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7F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1D2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Stormii2/Lumen-CD" TargetMode="Externa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685800"/>
            <a:ext cx="10881360" cy="292608"/>
          </a:xfrm>
          <a:prstGeom prst="rect">
            <a:avLst/>
          </a:prstGeom>
          <a:noFill/>
          <a:ln/>
        </p:spPr>
        <p:txBody>
          <a:bodyPr wrap="square"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BCSE307P  •  COMPILER DESIGN LABORATORY</a:t>
            </a:r>
            <a:endParaRPr lang="en-US" sz="1200" dirty="0"/>
          </a:p>
        </p:txBody>
      </p:sp>
      <p:sp>
        <p:nvSpPr>
          <p:cNvPr id="3" name="Text 1"/>
          <p:cNvSpPr/>
          <p:nvPr/>
        </p:nvSpPr>
        <p:spPr>
          <a:xfrm>
            <a:off x="640080" y="1005840"/>
            <a:ext cx="10058400" cy="365760"/>
          </a:xfrm>
          <a:prstGeom prst="rect">
            <a:avLst/>
          </a:prstGeom>
          <a:noFill/>
          <a:ln/>
        </p:spPr>
        <p:txBody>
          <a:bodyPr wrap="square" rtlCol="0" anchor="ctr"/>
          <a:lstStyle/>
          <a:p>
            <a:pPr indent="0" marL="0">
              <a:buNone/>
            </a:pPr>
            <a:r>
              <a:rPr lang="en-US" sz="1400" i="1" dirty="0">
                <a:solidFill>
                  <a:srgbClr val="AEB8C4"/>
                </a:solidFill>
                <a:latin typeface="Calibri" pitchFamily="34" charset="0"/>
                <a:ea typeface="Calibri" pitchFamily="34" charset="-122"/>
                <a:cs typeface="Calibri" pitchFamily="34" charset="-120"/>
              </a:rPr>
              <a:t>Review 3 — Final Project Review</a:t>
            </a:r>
            <a:endParaRPr lang="en-US" sz="1400" dirty="0"/>
          </a:p>
        </p:txBody>
      </p:sp>
      <p:sp>
        <p:nvSpPr>
          <p:cNvPr id="4" name="Text 2"/>
          <p:cNvSpPr/>
          <p:nvPr/>
        </p:nvSpPr>
        <p:spPr>
          <a:xfrm>
            <a:off x="640080" y="2286000"/>
            <a:ext cx="9144000" cy="100584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Lumen</a:t>
            </a:r>
            <a:endParaRPr lang="en-US" sz="6000" dirty="0"/>
          </a:p>
        </p:txBody>
      </p:sp>
      <p:sp>
        <p:nvSpPr>
          <p:cNvPr id="5" name="Text 3"/>
          <p:cNvSpPr/>
          <p:nvPr/>
        </p:nvSpPr>
        <p:spPr>
          <a:xfrm>
            <a:off x="640080" y="3337560"/>
            <a:ext cx="10515600" cy="457200"/>
          </a:xfrm>
          <a:prstGeom prst="rect">
            <a:avLst/>
          </a:prstGeom>
          <a:noFill/>
          <a:ln/>
        </p:spPr>
        <p:txBody>
          <a:bodyPr wrap="square" rtlCol="0" anchor="ctr"/>
          <a:lstStyle/>
          <a:p>
            <a:pPr indent="0" marL="0">
              <a:buNone/>
            </a:pPr>
            <a:r>
              <a:rPr lang="en-US" sz="1800" dirty="0">
                <a:solidFill>
                  <a:srgbClr val="AEB8C4"/>
                </a:solidFill>
                <a:latin typeface="Calibri" pitchFamily="34" charset="0"/>
                <a:ea typeface="Calibri" pitchFamily="34" charset="-122"/>
                <a:cs typeface="Calibri" pitchFamily="34" charset="-120"/>
              </a:rPr>
              <a:t>A diagnostics-first compiler: report one mistake once, in the right place, and keep going</a:t>
            </a:r>
            <a:endParaRPr lang="en-US" sz="1800" dirty="0"/>
          </a:p>
        </p:txBody>
      </p:sp>
      <p:sp>
        <p:nvSpPr>
          <p:cNvPr id="6" name="Shape 4"/>
          <p:cNvSpPr/>
          <p:nvPr/>
        </p:nvSpPr>
        <p:spPr>
          <a:xfrm>
            <a:off x="640080" y="3931920"/>
            <a:ext cx="457200" cy="36576"/>
          </a:xfrm>
          <a:prstGeom prst="rect">
            <a:avLst/>
          </a:prstGeom>
          <a:solidFill>
            <a:srgbClr val="34D399"/>
          </a:solidFill>
          <a:ln/>
        </p:spPr>
      </p:sp>
      <p:sp>
        <p:nvSpPr>
          <p:cNvPr id="7" name="Text 5"/>
          <p:cNvSpPr/>
          <p:nvPr/>
        </p:nvSpPr>
        <p:spPr>
          <a:xfrm>
            <a:off x="640080" y="4206240"/>
            <a:ext cx="100584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Srijan Sengupta</a:t>
            </a:r>
            <a:pPr indent="0" marL="0">
              <a:buNone/>
            </a:pPr>
            <a:r>
              <a:rPr lang="en-US" sz="1300" dirty="0">
                <a:solidFill>
                  <a:srgbClr val="AEB8C4"/>
                </a:solidFill>
                <a:latin typeface="Calibri" pitchFamily="34" charset="0"/>
                <a:ea typeface="Calibri" pitchFamily="34" charset="-122"/>
                <a:cs typeface="Calibri" pitchFamily="34" charset="-120"/>
              </a:rPr>
              <a:t>  •  Reg. No. 24BCE2218  •  VIT Vellore</a:t>
            </a:r>
            <a:endParaRPr lang="en-US" sz="1300" dirty="0"/>
          </a:p>
        </p:txBody>
      </p:sp>
      <p:sp>
        <p:nvSpPr>
          <p:cNvPr id="8" name="Text 6">
            <a:hlinkClick r:id="rId1" tooltip=""/>
          </p:cNvPr>
          <p:cNvSpPr/>
          <p:nvPr/>
        </p:nvSpPr>
        <p:spPr>
          <a:xfrm>
            <a:off x="640080" y="4572000"/>
            <a:ext cx="7315200" cy="320040"/>
          </a:xfrm>
          <a:prstGeom prst="rect">
            <a:avLst/>
          </a:prstGeom>
          <a:noFill/>
          <a:ln/>
        </p:spPr>
        <p:txBody>
          <a:bodyPr wrap="square" rtlCol="0" anchor="ctr"/>
          <a:lstStyle/>
          <a:p>
            <a:pPr indent="0" marL="0">
              <a:buNone/>
            </a:pPr>
            <a:r>
              <a:rPr lang="en-US" sz="1200" u="sng" dirty="0">
                <a:solidFill>
                  <a:srgbClr val="34D399"/>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github.com/Stormii2/Lumen-CD</a:t>
            </a:r>
            <a:endParaRPr lang="en-US" sz="1200" dirty="0"/>
          </a:p>
        </p:txBody>
      </p:sp>
      <p:sp>
        <p:nvSpPr>
          <p:cNvPr id="9" name="Text 7"/>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AEB8C4"/>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AEB8C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REVIEW 3 RUBRIC</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Ten criteria, one section each</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457200"/>
                <a:gridCol w="2286000"/>
                <a:gridCol w="3291840"/>
                <a:gridCol w="48463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examiner looks for</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Our evidence</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Project completion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Objectives completed</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All planned objectives built (slide 3)</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Functional correctness</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Correctness of outputs</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459 tests, 98.9% / 100% on held-out data (slides 4, 8)</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Technical complexity</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Depth of implementation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SSA optimiser, 8 recovery layers, repair engine (slides 5, 7, 8)</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Compiler integration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Use of compiler concepts</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Full pipeline, concept-to-module map (slide 6)</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Innovation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Originality</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SSA optimiser, switchable layers, applicability classes (slide 9)</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Code quality</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Structure and documentation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Module map, one entry point (slide 10)</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Comprehensive validation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125 cases + 334 machinery tests + evaluation (slide 11)</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Demonstration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Working project demonstration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Live script (slides 12-13)</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Documentation</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Quality of project report</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Report, guide, catalogue (slide 14)</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Viva</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Individual technical understanding</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Prepared answers (slides 15-16)</a:t>
                      </a:r>
                      <a:endParaRPr lang="en-US" sz="12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bl>
          </a:graphicData>
        </a:graphic>
      </p:graphicFrame>
      <p:sp>
        <p:nvSpPr>
          <p:cNvPr id="5" name="Text 2"/>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6" name="Text 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1 OF 10 — PROJECT COMPLETION</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Every planned objective is built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5120640"/>
                <a:gridCol w="2651760"/>
                <a:gridCol w="310896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Objective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Lexer, parser, scoped symbol table, type checker</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lexer.py, parser.py, checker.py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Three-address code and executing interpreter</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tac.py, interpreter.py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Repair engine with applicability classes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suggest.py, repair.py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--fix to a fixpoint, --diff, --unsafe-fixes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fixer.py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--explain and 52-code error catalogue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explain.py, docs/ERROR_CODES.md</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FIRST/FOLLOW computed from the grammar, used for recovery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grammar.py, parser.py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Span-containment suppression of cascades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diagnostics.py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Seeded-defect evaluation with baselines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eval/</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Run-time safety (R0001-R0007)</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interpreter.py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SSA construction and optimiser (-O)</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b="1" dirty="0">
                          <a:solidFill>
                            <a:srgbClr val="18855F"/>
                          </a:solidFill>
                          <a:latin typeface="Calibri" pitchFamily="34" charset="0"/>
                          <a:ea typeface="Calibri" pitchFamily="34" charset="-122"/>
                          <a:cs typeface="Calibri" pitchFamily="34" charset="-120"/>
                        </a:rPr>
                        <a:t>done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cfg.py, ssa.py, optimizer.py</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365760">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Native code generation</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b="1" dirty="0">
                          <a:solidFill>
                            <a:srgbClr val="5B6472"/>
                          </a:solidFill>
                          <a:latin typeface="Calibri" pitchFamily="34" charset="0"/>
                          <a:ea typeface="Calibri" pitchFamily="34" charset="-122"/>
                          <a:cs typeface="Calibri" pitchFamily="34" charset="-120"/>
                        </a:rPr>
                        <a:t>not built: programs run as TAC in an interpreter</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6" name="Text 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2 OF 10 — FUNCTIONAL CORRECTNESS</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Outputs are correct: tested, and measured against known defects</a:t>
            </a:r>
            <a:endParaRPr lang="en-US" sz="2800" dirty="0"/>
          </a:p>
        </p:txBody>
      </p:sp>
      <p:sp>
        <p:nvSpPr>
          <p:cNvPr id="4" name="Shape 2"/>
          <p:cNvSpPr/>
          <p:nvPr/>
        </p:nvSpPr>
        <p:spPr>
          <a:xfrm>
            <a:off x="640080" y="1645920"/>
            <a:ext cx="2560320" cy="1234440"/>
          </a:xfrm>
          <a:prstGeom prst="roundRect">
            <a:avLst>
              <a:gd name="adj" fmla="val 4444"/>
            </a:avLst>
          </a:prstGeom>
          <a:solidFill>
            <a:srgbClr val="FFFFFF"/>
          </a:solidFill>
          <a:ln w="12700">
            <a:solidFill>
              <a:srgbClr val="DFE4E8"/>
            </a:solidFill>
            <a:prstDash val="solid"/>
          </a:ln>
        </p:spPr>
      </p:sp>
      <p:sp>
        <p:nvSpPr>
          <p:cNvPr id="5" name="Text 3"/>
          <p:cNvSpPr/>
          <p:nvPr/>
        </p:nvSpPr>
        <p:spPr>
          <a:xfrm>
            <a:off x="640080" y="1755648"/>
            <a:ext cx="2560320" cy="658368"/>
          </a:xfrm>
          <a:prstGeom prst="rect">
            <a:avLst/>
          </a:prstGeom>
          <a:noFill/>
          <a:ln/>
        </p:spPr>
        <p:txBody>
          <a:bodyPr wrap="square" rtlCol="0" anchor="ctr"/>
          <a:lstStyle/>
          <a:p>
            <a:pPr algn="ctr" indent="0" marL="0">
              <a:buNone/>
            </a:pPr>
            <a:r>
              <a:rPr lang="en-US" sz="3000" b="1" dirty="0">
                <a:solidFill>
                  <a:srgbClr val="18855F"/>
                </a:solidFill>
                <a:latin typeface="Cambria" pitchFamily="34" charset="0"/>
                <a:ea typeface="Cambria" pitchFamily="34" charset="-122"/>
                <a:cs typeface="Cambria" pitchFamily="34" charset="-120"/>
              </a:rPr>
              <a:t>459</a:t>
            </a:r>
            <a:endParaRPr lang="en-US" sz="3000" dirty="0"/>
          </a:p>
        </p:txBody>
      </p:sp>
      <p:sp>
        <p:nvSpPr>
          <p:cNvPr id="6" name="Text 4"/>
          <p:cNvSpPr/>
          <p:nvPr/>
        </p:nvSpPr>
        <p:spPr>
          <a:xfrm>
            <a:off x="731520" y="2395728"/>
            <a:ext cx="2377440" cy="457200"/>
          </a:xfrm>
          <a:prstGeom prst="rect">
            <a:avLst/>
          </a:prstGeom>
          <a:noFill/>
          <a:ln/>
        </p:spPr>
        <p:txBody>
          <a:bodyPr wrap="square"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automated tests, all passing</a:t>
            </a:r>
            <a:endParaRPr lang="en-US" sz="1050" dirty="0"/>
          </a:p>
        </p:txBody>
      </p:sp>
      <p:sp>
        <p:nvSpPr>
          <p:cNvPr id="7" name="Shape 5"/>
          <p:cNvSpPr/>
          <p:nvPr/>
        </p:nvSpPr>
        <p:spPr>
          <a:xfrm>
            <a:off x="3383280" y="1645920"/>
            <a:ext cx="2560320" cy="1234440"/>
          </a:xfrm>
          <a:prstGeom prst="roundRect">
            <a:avLst>
              <a:gd name="adj" fmla="val 4444"/>
            </a:avLst>
          </a:prstGeom>
          <a:solidFill>
            <a:srgbClr val="FFFFFF"/>
          </a:solidFill>
          <a:ln w="12700">
            <a:solidFill>
              <a:srgbClr val="DFE4E8"/>
            </a:solidFill>
            <a:prstDash val="solid"/>
          </a:ln>
        </p:spPr>
      </p:sp>
      <p:sp>
        <p:nvSpPr>
          <p:cNvPr id="8" name="Text 6"/>
          <p:cNvSpPr/>
          <p:nvPr/>
        </p:nvSpPr>
        <p:spPr>
          <a:xfrm>
            <a:off x="3383280" y="1755648"/>
            <a:ext cx="2560320" cy="658368"/>
          </a:xfrm>
          <a:prstGeom prst="rect">
            <a:avLst/>
          </a:prstGeom>
          <a:noFill/>
          <a:ln/>
        </p:spPr>
        <p:txBody>
          <a:bodyPr wrap="square" rtlCol="0" anchor="ctr"/>
          <a:lstStyle/>
          <a:p>
            <a:pPr algn="ctr" indent="0" marL="0">
              <a:buNone/>
            </a:pPr>
            <a:r>
              <a:rPr lang="en-US" sz="3000" b="1" dirty="0">
                <a:solidFill>
                  <a:srgbClr val="18855F"/>
                </a:solidFill>
                <a:latin typeface="Cambria" pitchFamily="34" charset="0"/>
                <a:ea typeface="Cambria" pitchFamily="34" charset="-122"/>
                <a:cs typeface="Cambria" pitchFamily="34" charset="-120"/>
              </a:rPr>
              <a:t>98.9%</a:t>
            </a:r>
            <a:endParaRPr lang="en-US" sz="3000" dirty="0"/>
          </a:p>
        </p:txBody>
      </p:sp>
      <p:sp>
        <p:nvSpPr>
          <p:cNvPr id="9" name="Text 7"/>
          <p:cNvSpPr/>
          <p:nvPr/>
        </p:nvSpPr>
        <p:spPr>
          <a:xfrm>
            <a:off x="3474720" y="2395728"/>
            <a:ext cx="2377440" cy="457200"/>
          </a:xfrm>
          <a:prstGeom prst="rect">
            <a:avLst/>
          </a:prstGeom>
          <a:noFill/>
          <a:ln/>
        </p:spPr>
        <p:txBody>
          <a:bodyPr wrap="square"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one error at the defect, held-out (377 programs)</a:t>
            </a:r>
            <a:endParaRPr lang="en-US" sz="1050" dirty="0"/>
          </a:p>
        </p:txBody>
      </p:sp>
      <p:sp>
        <p:nvSpPr>
          <p:cNvPr id="10" name="Shape 8"/>
          <p:cNvSpPr/>
          <p:nvPr/>
        </p:nvSpPr>
        <p:spPr>
          <a:xfrm>
            <a:off x="6126480" y="1645920"/>
            <a:ext cx="2560320" cy="1234440"/>
          </a:xfrm>
          <a:prstGeom prst="roundRect">
            <a:avLst>
              <a:gd name="adj" fmla="val 4444"/>
            </a:avLst>
          </a:prstGeom>
          <a:solidFill>
            <a:srgbClr val="FFFFFF"/>
          </a:solidFill>
          <a:ln w="12700">
            <a:solidFill>
              <a:srgbClr val="DFE4E8"/>
            </a:solidFill>
            <a:prstDash val="solid"/>
          </a:ln>
        </p:spPr>
      </p:sp>
      <p:sp>
        <p:nvSpPr>
          <p:cNvPr id="11" name="Text 9"/>
          <p:cNvSpPr/>
          <p:nvPr/>
        </p:nvSpPr>
        <p:spPr>
          <a:xfrm>
            <a:off x="6126480" y="1755648"/>
            <a:ext cx="2560320" cy="658368"/>
          </a:xfrm>
          <a:prstGeom prst="rect">
            <a:avLst/>
          </a:prstGeom>
          <a:noFill/>
          <a:ln/>
        </p:spPr>
        <p:txBody>
          <a:bodyPr wrap="square" rtlCol="0" anchor="ctr"/>
          <a:lstStyle/>
          <a:p>
            <a:pPr algn="ctr" indent="0" marL="0">
              <a:buNone/>
            </a:pPr>
            <a:r>
              <a:rPr lang="en-US" sz="3000" b="1" dirty="0">
                <a:solidFill>
                  <a:srgbClr val="18855F"/>
                </a:solidFill>
                <a:latin typeface="Cambria" pitchFamily="34" charset="0"/>
                <a:ea typeface="Cambria" pitchFamily="34" charset="-122"/>
                <a:cs typeface="Cambria" pitchFamily="34" charset="-120"/>
              </a:rPr>
              <a:t>100%</a:t>
            </a:r>
            <a:endParaRPr lang="en-US" sz="3000" dirty="0"/>
          </a:p>
        </p:txBody>
      </p:sp>
      <p:sp>
        <p:nvSpPr>
          <p:cNvPr id="12" name="Text 10"/>
          <p:cNvSpPr/>
          <p:nvPr/>
        </p:nvSpPr>
        <p:spPr>
          <a:xfrm>
            <a:off x="6217920" y="2395728"/>
            <a:ext cx="2377440" cy="457200"/>
          </a:xfrm>
          <a:prstGeom prst="rect">
            <a:avLst/>
          </a:prstGeom>
          <a:noFill/>
          <a:ln/>
        </p:spPr>
        <p:txBody>
          <a:bodyPr wrap="square"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of 3 simultaneous defects found</a:t>
            </a:r>
            <a:endParaRPr lang="en-US" sz="1050" dirty="0"/>
          </a:p>
          <a:p>
            <a:pPr algn="ctr" indent="0" marL="0">
              <a:buNone/>
            </a:pPr>
            <a:r>
              <a:rPr lang="en-US" sz="1050" dirty="0">
                <a:solidFill>
                  <a:srgbClr val="5B6472"/>
                </a:solidFill>
                <a:latin typeface="Calibri" pitchFamily="34" charset="0"/>
                <a:ea typeface="Calibri" pitchFamily="34" charset="-122"/>
                <a:cs typeface="Calibri" pitchFamily="34" charset="-120"/>
              </a:rPr>
              <a:t>precision 100%</a:t>
            </a:r>
            <a:endParaRPr lang="en-US" sz="1050" dirty="0"/>
          </a:p>
        </p:txBody>
      </p:sp>
      <p:sp>
        <p:nvSpPr>
          <p:cNvPr id="13" name="Shape 11"/>
          <p:cNvSpPr/>
          <p:nvPr/>
        </p:nvSpPr>
        <p:spPr>
          <a:xfrm>
            <a:off x="8869680" y="1645920"/>
            <a:ext cx="2651760" cy="1234440"/>
          </a:xfrm>
          <a:prstGeom prst="roundRect">
            <a:avLst>
              <a:gd name="adj" fmla="val 4444"/>
            </a:avLst>
          </a:prstGeom>
          <a:solidFill>
            <a:srgbClr val="FFFFFF"/>
          </a:solidFill>
          <a:ln w="12700">
            <a:solidFill>
              <a:srgbClr val="DFE4E8"/>
            </a:solidFill>
            <a:prstDash val="solid"/>
          </a:ln>
        </p:spPr>
      </p:sp>
      <p:sp>
        <p:nvSpPr>
          <p:cNvPr id="14" name="Text 12"/>
          <p:cNvSpPr/>
          <p:nvPr/>
        </p:nvSpPr>
        <p:spPr>
          <a:xfrm>
            <a:off x="8869680" y="1755648"/>
            <a:ext cx="2651760" cy="658368"/>
          </a:xfrm>
          <a:prstGeom prst="rect">
            <a:avLst/>
          </a:prstGeom>
          <a:noFill/>
          <a:ln/>
        </p:spPr>
        <p:txBody>
          <a:bodyPr wrap="square" rtlCol="0" anchor="ctr"/>
          <a:lstStyle/>
          <a:p>
            <a:pPr algn="ctr" indent="0" marL="0">
              <a:buNone/>
            </a:pPr>
            <a:r>
              <a:rPr lang="en-US" sz="3000" b="1" dirty="0">
                <a:solidFill>
                  <a:srgbClr val="18855F"/>
                </a:solidFill>
                <a:latin typeface="Cambria" pitchFamily="34" charset="0"/>
                <a:ea typeface="Cambria" pitchFamily="34" charset="-122"/>
                <a:cs typeface="Cambria" pitchFamily="34" charset="-120"/>
              </a:rPr>
              <a:t>23</a:t>
            </a:r>
            <a:endParaRPr lang="en-US" sz="3000" dirty="0"/>
          </a:p>
        </p:txBody>
      </p:sp>
      <p:sp>
        <p:nvSpPr>
          <p:cNvPr id="15" name="Text 13"/>
          <p:cNvSpPr/>
          <p:nvPr/>
        </p:nvSpPr>
        <p:spPr>
          <a:xfrm>
            <a:off x="8961120" y="2395728"/>
            <a:ext cx="2468880" cy="457200"/>
          </a:xfrm>
          <a:prstGeom prst="rect">
            <a:avLst/>
          </a:prstGeom>
          <a:noFill/>
          <a:ln/>
        </p:spPr>
        <p:txBody>
          <a:bodyPr wrap="square"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bugs found by adversarial testing and fixed</a:t>
            </a:r>
            <a:endParaRPr lang="en-US" sz="1050" dirty="0"/>
          </a:p>
          <a:p>
            <a:pPr algn="ctr" indent="0" marL="0">
              <a:buNone/>
            </a:pPr>
            <a:r>
              <a:rPr lang="en-US" sz="1050" dirty="0">
                <a:solidFill>
                  <a:srgbClr val="5B6472"/>
                </a:solidFill>
                <a:latin typeface="Calibri" pitchFamily="34" charset="0"/>
                <a:ea typeface="Calibri" pitchFamily="34" charset="-122"/>
                <a:cs typeface="Calibri" pitchFamily="34" charset="-120"/>
              </a:rPr>
              <a:t>3 were hangs</a:t>
            </a:r>
            <a:endParaRPr lang="en-US" sz="1050" dirty="0"/>
          </a:p>
        </p:txBody>
      </p:sp>
      <p:sp>
        <p:nvSpPr>
          <p:cNvPr id="16" name="Text 14"/>
          <p:cNvSpPr/>
          <p:nvPr/>
        </p:nvSpPr>
        <p:spPr>
          <a:xfrm>
            <a:off x="640080" y="3154680"/>
            <a:ext cx="10881360" cy="3017520"/>
          </a:xfrm>
          <a:prstGeom prst="rect">
            <a:avLst/>
          </a:prstGeom>
          <a:noFill/>
          <a:ln/>
        </p:spPr>
        <p:txBody>
          <a:bodyPr wrap="square" rtlCol="0" anchor="t"/>
          <a:lstStyle/>
          <a:p>
            <a:pPr marL="342900" indent="-3429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Valid programs print the right answer: truncating division, modulo sign, int to float widening, short-circuit logic, shadowing, globals, recursion.</a:t>
            </a:r>
            <a:endParaRPr lang="en-US" sz="1350" dirty="0"/>
          </a:p>
          <a:p>
            <a:pPr marL="342900" indent="-3429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Invalid programs get the right code at the right line: every one of the 52 catalogued error examples is compiled in a test and must raise exactly its code.</a:t>
            </a:r>
            <a:endParaRPr lang="en-US" sz="1350" dirty="0"/>
          </a:p>
          <a:p>
            <a:pPr marL="342900" indent="-3429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Run-time faults are reported, not hidden: divide by zero, array bounds, overflow, stack depth, runaway loops each give a located R-code.</a:t>
            </a:r>
            <a:endParaRPr lang="en-US" sz="1350" dirty="0"/>
          </a:p>
          <a:p>
            <a:pPr marL="342900" indent="-342900">
              <a:spcAft>
                <a:spcPts val="600"/>
              </a:spcAft>
              <a:buSzPct val="100000"/>
              <a:buChar char="•"/>
            </a:pPr>
            <a:r>
              <a:rPr lang="en-US" sz="1350" dirty="0">
                <a:solidFill>
                  <a:srgbClr val="1B2430"/>
                </a:solidFill>
                <a:latin typeface="Calibri" pitchFamily="34" charset="0"/>
                <a:ea typeface="Calibri" pitchFamily="34" charset="-122"/>
                <a:cs typeface="Calibri" pitchFamily="34" charset="-120"/>
              </a:rPr>
              <a:t>Correctness of the repairs: safe --fix restored the original program in every one of its attempts (no wrong fix); guesses are opt-in.</a:t>
            </a:r>
            <a:endParaRPr lang="en-US" sz="1350" dirty="0"/>
          </a:p>
        </p:txBody>
      </p:sp>
      <p:sp>
        <p:nvSpPr>
          <p:cNvPr id="17" name="Text 1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18"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3 OF 10 — TECHNICAL COMPLEXITY</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Recovery layers, grammar tables, repair engine, SSA optimiser</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1828800"/>
                <a:gridCol w="8138160"/>
                <a:gridCol w="914400"/>
              </a:tblGrid>
              <a:tr h="5303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Depth of implementation</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r>
              <a:tr h="530352">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Parser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Recursive descent + Pratt expressions; phrase-level repair, panic mode with sync set from FIRST/FOLLOW, error-gap rule, progress guarantee in every loop</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987</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530352">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Type checker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Scoped symbol table, error type as lattice bottom, annotations for codegen, lost-declaration inference, return-path analysis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575</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530352">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Interpreter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Functions pre-decoded to tuples, resolved jumps, 64-bit overflow, call depth and step limits, located R-codes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363</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530352">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TAC generator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Short-circuit lowering, explicit itof widening, unique storage names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309</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530352">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Grammar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LL(1) grammar as data; nullable, FIRST, FOLLOW fixpoints; conflict check</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234</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530352">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Repair and fixer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Damerau-Lowrance-Wagner distance, length-scaled threshold, applicability classes, back-to-front fixpoint application</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530352">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CFG, SSA, optimiser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Basic blocks, critical-edge splitting, dominators and frontiers, pruned SSA, constant/copy propagation, GVN, DCE, phi elimination</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1,282</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897880"/>
            <a:ext cx="10881360" cy="320040"/>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Core compiler: about 5,100 lines in 22 files, plus tests and evaluation tooling.</a:t>
            </a:r>
            <a:endParaRPr lang="en-US" sz="1100" dirty="0"/>
          </a:p>
        </p:txBody>
      </p:sp>
      <p:sp>
        <p:nvSpPr>
          <p:cNvPr id="6" name="Text 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CRITERION 4 OF 10 — COMPILER INTEGRATION</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One pipeline; each classic compiler concept has a home</a:t>
            </a:r>
            <a:endParaRPr lang="en-US" sz="2800" dirty="0"/>
          </a:p>
        </p:txBody>
      </p:sp>
      <p:sp>
        <p:nvSpPr>
          <p:cNvPr id="4" name="Shape 2"/>
          <p:cNvSpPr/>
          <p:nvPr/>
        </p:nvSpPr>
        <p:spPr>
          <a:xfrm>
            <a:off x="640080" y="1920240"/>
            <a:ext cx="1463040" cy="1737360"/>
          </a:xfrm>
          <a:prstGeom prst="roundRect">
            <a:avLst>
              <a:gd name="adj" fmla="val 3750"/>
            </a:avLst>
          </a:prstGeom>
          <a:solidFill>
            <a:srgbClr val="1F2A38"/>
          </a:solidFill>
          <a:ln w="12700">
            <a:solidFill>
              <a:srgbClr val="2B3948"/>
            </a:solidFill>
            <a:prstDash val="solid"/>
          </a:ln>
        </p:spPr>
      </p:sp>
      <p:sp>
        <p:nvSpPr>
          <p:cNvPr id="5" name="Shape 3"/>
          <p:cNvSpPr/>
          <p:nvPr/>
        </p:nvSpPr>
        <p:spPr>
          <a:xfrm>
            <a:off x="640080" y="1920240"/>
            <a:ext cx="1463040" cy="45720"/>
          </a:xfrm>
          <a:prstGeom prst="rect">
            <a:avLst/>
          </a:prstGeom>
          <a:solidFill>
            <a:srgbClr val="34D399"/>
          </a:solidFill>
          <a:ln/>
        </p:spPr>
      </p:sp>
      <p:sp>
        <p:nvSpPr>
          <p:cNvPr id="6" name="Text 4"/>
          <p:cNvSpPr/>
          <p:nvPr/>
        </p:nvSpPr>
        <p:spPr>
          <a:xfrm>
            <a:off x="640080" y="2057400"/>
            <a:ext cx="1463040" cy="365760"/>
          </a:xfrm>
          <a:prstGeom prst="rect">
            <a:avLst/>
          </a:prstGeom>
          <a:noFill/>
          <a:ln/>
        </p:spPr>
        <p:txBody>
          <a:bodyPr wrap="square" rtlCol="0" anchor="ctr"/>
          <a:lstStyle/>
          <a:p>
            <a:pPr algn="ctr" indent="0" marL="0">
              <a:buNone/>
            </a:pPr>
            <a:r>
              <a:rPr lang="en-US" sz="1300" b="1" dirty="0">
                <a:solidFill>
                  <a:srgbClr val="34D399"/>
                </a:solidFill>
                <a:latin typeface="Cambria" pitchFamily="34" charset="0"/>
                <a:ea typeface="Cambria" pitchFamily="34" charset="-122"/>
                <a:cs typeface="Cambria" pitchFamily="34" charset="-120"/>
              </a:rPr>
              <a:t>Lexer</a:t>
            </a:r>
            <a:endParaRPr lang="en-US" sz="1300" dirty="0"/>
          </a:p>
        </p:txBody>
      </p:sp>
      <p:sp>
        <p:nvSpPr>
          <p:cNvPr id="7" name="Text 5"/>
          <p:cNvSpPr/>
          <p:nvPr/>
        </p:nvSpPr>
        <p:spPr>
          <a:xfrm>
            <a:off x="685800" y="2514600"/>
            <a:ext cx="1371600" cy="1005840"/>
          </a:xfrm>
          <a:prstGeom prst="rect">
            <a:avLst/>
          </a:prstGeom>
          <a:noFill/>
          <a:ln/>
        </p:spPr>
        <p:txBody>
          <a:bodyPr wrap="square" rtlCol="0" anchor="t"/>
          <a:lstStyle/>
          <a:p>
            <a:pPr algn="ctr" indent="0" marL="0">
              <a:buNone/>
            </a:pPr>
            <a:r>
              <a:rPr lang="en-US" sz="1000" dirty="0">
                <a:solidFill>
                  <a:srgbClr val="AEB8C4"/>
                </a:solidFill>
                <a:latin typeface="Calibri" pitchFamily="34" charset="0"/>
                <a:ea typeface="Calibri" pitchFamily="34" charset="-122"/>
                <a:cs typeface="Calibri" pitchFamily="34" charset="-120"/>
              </a:rPr>
              <a:t>regular expressions /</a:t>
            </a:r>
            <a:endParaRPr lang="en-US" sz="1000" dirty="0"/>
          </a:p>
          <a:p>
            <a:pPr algn="ctr" indent="0" marL="0">
              <a:buNone/>
            </a:pPr>
            <a:r>
              <a:rPr lang="en-US" sz="1000" dirty="0">
                <a:solidFill>
                  <a:srgbClr val="AEB8C4"/>
                </a:solidFill>
                <a:latin typeface="Calibri" pitchFamily="34" charset="0"/>
                <a:ea typeface="Calibri" pitchFamily="34" charset="-122"/>
                <a:cs typeface="Calibri" pitchFamily="34" charset="-120"/>
              </a:rPr>
              <a:t>finite automaton</a:t>
            </a:r>
            <a:endParaRPr lang="en-US" sz="1000" dirty="0"/>
          </a:p>
        </p:txBody>
      </p:sp>
      <p:sp>
        <p:nvSpPr>
          <p:cNvPr id="8" name="Shape 6"/>
          <p:cNvSpPr/>
          <p:nvPr/>
        </p:nvSpPr>
        <p:spPr>
          <a:xfrm>
            <a:off x="2194560" y="1920240"/>
            <a:ext cx="1463040" cy="1737360"/>
          </a:xfrm>
          <a:prstGeom prst="roundRect">
            <a:avLst>
              <a:gd name="adj" fmla="val 3750"/>
            </a:avLst>
          </a:prstGeom>
          <a:solidFill>
            <a:srgbClr val="1F2A38"/>
          </a:solidFill>
          <a:ln w="12700">
            <a:solidFill>
              <a:srgbClr val="2B3948"/>
            </a:solidFill>
            <a:prstDash val="solid"/>
          </a:ln>
        </p:spPr>
      </p:sp>
      <p:sp>
        <p:nvSpPr>
          <p:cNvPr id="9" name="Shape 7"/>
          <p:cNvSpPr/>
          <p:nvPr/>
        </p:nvSpPr>
        <p:spPr>
          <a:xfrm>
            <a:off x="2194560" y="1920240"/>
            <a:ext cx="1463040" cy="45720"/>
          </a:xfrm>
          <a:prstGeom prst="rect">
            <a:avLst/>
          </a:prstGeom>
          <a:solidFill>
            <a:srgbClr val="34D399"/>
          </a:solidFill>
          <a:ln/>
        </p:spPr>
      </p:sp>
      <p:sp>
        <p:nvSpPr>
          <p:cNvPr id="10" name="Text 8"/>
          <p:cNvSpPr/>
          <p:nvPr/>
        </p:nvSpPr>
        <p:spPr>
          <a:xfrm>
            <a:off x="2194560" y="2057400"/>
            <a:ext cx="1463040" cy="365760"/>
          </a:xfrm>
          <a:prstGeom prst="rect">
            <a:avLst/>
          </a:prstGeom>
          <a:noFill/>
          <a:ln/>
        </p:spPr>
        <p:txBody>
          <a:bodyPr wrap="square" rtlCol="0" anchor="ctr"/>
          <a:lstStyle/>
          <a:p>
            <a:pPr algn="ctr" indent="0" marL="0">
              <a:buNone/>
            </a:pPr>
            <a:r>
              <a:rPr lang="en-US" sz="1300" b="1" dirty="0">
                <a:solidFill>
                  <a:srgbClr val="34D399"/>
                </a:solidFill>
                <a:latin typeface="Cambria" pitchFamily="34" charset="0"/>
                <a:ea typeface="Cambria" pitchFamily="34" charset="-122"/>
                <a:cs typeface="Cambria" pitchFamily="34" charset="-120"/>
              </a:rPr>
              <a:t>Parser</a:t>
            </a:r>
            <a:endParaRPr lang="en-US" sz="1300" dirty="0"/>
          </a:p>
        </p:txBody>
      </p:sp>
      <p:sp>
        <p:nvSpPr>
          <p:cNvPr id="11" name="Text 9"/>
          <p:cNvSpPr/>
          <p:nvPr/>
        </p:nvSpPr>
        <p:spPr>
          <a:xfrm>
            <a:off x="2240280" y="2514600"/>
            <a:ext cx="1371600" cy="1005840"/>
          </a:xfrm>
          <a:prstGeom prst="rect">
            <a:avLst/>
          </a:prstGeom>
          <a:noFill/>
          <a:ln/>
        </p:spPr>
        <p:txBody>
          <a:bodyPr wrap="square" rtlCol="0" anchor="t"/>
          <a:lstStyle/>
          <a:p>
            <a:pPr algn="ctr" indent="0" marL="0">
              <a:buNone/>
            </a:pPr>
            <a:r>
              <a:rPr lang="en-US" sz="1000" dirty="0">
                <a:solidFill>
                  <a:srgbClr val="AEB8C4"/>
                </a:solidFill>
                <a:latin typeface="Calibri" pitchFamily="34" charset="0"/>
                <a:ea typeface="Calibri" pitchFamily="34" charset="-122"/>
                <a:cs typeface="Calibri" pitchFamily="34" charset="-120"/>
              </a:rPr>
              <a:t>LL(1), recursive descent,</a:t>
            </a:r>
            <a:endParaRPr lang="en-US" sz="1000" dirty="0"/>
          </a:p>
          <a:p>
            <a:pPr algn="ctr" indent="0" marL="0">
              <a:buNone/>
            </a:pPr>
            <a:r>
              <a:rPr lang="en-US" sz="1000" dirty="0">
                <a:solidFill>
                  <a:srgbClr val="AEB8C4"/>
                </a:solidFill>
                <a:latin typeface="Calibri" pitchFamily="34" charset="0"/>
                <a:ea typeface="Calibri" pitchFamily="34" charset="-122"/>
                <a:cs typeface="Calibri" pitchFamily="34" charset="-120"/>
              </a:rPr>
              <a:t>panic mode, FIRST/FOLLOW</a:t>
            </a:r>
            <a:endParaRPr lang="en-US" sz="1000" dirty="0"/>
          </a:p>
        </p:txBody>
      </p:sp>
      <p:sp>
        <p:nvSpPr>
          <p:cNvPr id="12" name="Shape 10"/>
          <p:cNvSpPr/>
          <p:nvPr/>
        </p:nvSpPr>
        <p:spPr>
          <a:xfrm>
            <a:off x="3749040" y="1920240"/>
            <a:ext cx="1463040" cy="1737360"/>
          </a:xfrm>
          <a:prstGeom prst="roundRect">
            <a:avLst>
              <a:gd name="adj" fmla="val 3750"/>
            </a:avLst>
          </a:prstGeom>
          <a:solidFill>
            <a:srgbClr val="1F2A38"/>
          </a:solidFill>
          <a:ln w="12700">
            <a:solidFill>
              <a:srgbClr val="2B3948"/>
            </a:solidFill>
            <a:prstDash val="solid"/>
          </a:ln>
        </p:spPr>
      </p:sp>
      <p:sp>
        <p:nvSpPr>
          <p:cNvPr id="13" name="Shape 11"/>
          <p:cNvSpPr/>
          <p:nvPr/>
        </p:nvSpPr>
        <p:spPr>
          <a:xfrm>
            <a:off x="3749040" y="1920240"/>
            <a:ext cx="1463040" cy="45720"/>
          </a:xfrm>
          <a:prstGeom prst="rect">
            <a:avLst/>
          </a:prstGeom>
          <a:solidFill>
            <a:srgbClr val="34D399"/>
          </a:solidFill>
          <a:ln/>
        </p:spPr>
      </p:sp>
      <p:sp>
        <p:nvSpPr>
          <p:cNvPr id="14" name="Text 12"/>
          <p:cNvSpPr/>
          <p:nvPr/>
        </p:nvSpPr>
        <p:spPr>
          <a:xfrm>
            <a:off x="3749040" y="2057400"/>
            <a:ext cx="1463040" cy="365760"/>
          </a:xfrm>
          <a:prstGeom prst="rect">
            <a:avLst/>
          </a:prstGeom>
          <a:noFill/>
          <a:ln/>
        </p:spPr>
        <p:txBody>
          <a:bodyPr wrap="square" rtlCol="0" anchor="ctr"/>
          <a:lstStyle/>
          <a:p>
            <a:pPr algn="ctr" indent="0" marL="0">
              <a:buNone/>
            </a:pPr>
            <a:r>
              <a:rPr lang="en-US" sz="1300" b="1" dirty="0">
                <a:solidFill>
                  <a:srgbClr val="34D399"/>
                </a:solidFill>
                <a:latin typeface="Cambria" pitchFamily="34" charset="0"/>
                <a:ea typeface="Cambria" pitchFamily="34" charset="-122"/>
                <a:cs typeface="Cambria" pitchFamily="34" charset="-120"/>
              </a:rPr>
              <a:t>Checker</a:t>
            </a:r>
            <a:endParaRPr lang="en-US" sz="1300" dirty="0"/>
          </a:p>
        </p:txBody>
      </p:sp>
      <p:sp>
        <p:nvSpPr>
          <p:cNvPr id="15" name="Text 13"/>
          <p:cNvSpPr/>
          <p:nvPr/>
        </p:nvSpPr>
        <p:spPr>
          <a:xfrm>
            <a:off x="3794760" y="2514600"/>
            <a:ext cx="1371600" cy="1005840"/>
          </a:xfrm>
          <a:prstGeom prst="rect">
            <a:avLst/>
          </a:prstGeom>
          <a:noFill/>
          <a:ln/>
        </p:spPr>
        <p:txBody>
          <a:bodyPr wrap="square" rtlCol="0" anchor="t"/>
          <a:lstStyle/>
          <a:p>
            <a:pPr algn="ctr" indent="0" marL="0">
              <a:buNone/>
            </a:pPr>
            <a:r>
              <a:rPr lang="en-US" sz="1000" dirty="0">
                <a:solidFill>
                  <a:srgbClr val="AEB8C4"/>
                </a:solidFill>
                <a:latin typeface="Calibri" pitchFamily="34" charset="0"/>
                <a:ea typeface="Calibri" pitchFamily="34" charset="-122"/>
                <a:cs typeface="Calibri" pitchFamily="34" charset="-120"/>
              </a:rPr>
              <a:t>symbol tables, scopes,</a:t>
            </a:r>
            <a:endParaRPr lang="en-US" sz="1000" dirty="0"/>
          </a:p>
          <a:p>
            <a:pPr algn="ctr" indent="0" marL="0">
              <a:buNone/>
            </a:pPr>
            <a:r>
              <a:rPr lang="en-US" sz="1000" dirty="0">
                <a:solidFill>
                  <a:srgbClr val="AEB8C4"/>
                </a:solidFill>
                <a:latin typeface="Calibri" pitchFamily="34" charset="0"/>
                <a:ea typeface="Calibri" pitchFamily="34" charset="-122"/>
                <a:cs typeface="Calibri" pitchFamily="34" charset="-120"/>
              </a:rPr>
              <a:t>type rules, coercion</a:t>
            </a:r>
            <a:endParaRPr lang="en-US" sz="1000" dirty="0"/>
          </a:p>
        </p:txBody>
      </p:sp>
      <p:sp>
        <p:nvSpPr>
          <p:cNvPr id="16" name="Shape 14"/>
          <p:cNvSpPr/>
          <p:nvPr/>
        </p:nvSpPr>
        <p:spPr>
          <a:xfrm>
            <a:off x="5303520" y="1920240"/>
            <a:ext cx="1463040" cy="1737360"/>
          </a:xfrm>
          <a:prstGeom prst="roundRect">
            <a:avLst>
              <a:gd name="adj" fmla="val 3750"/>
            </a:avLst>
          </a:prstGeom>
          <a:solidFill>
            <a:srgbClr val="1F2A38"/>
          </a:solidFill>
          <a:ln w="12700">
            <a:solidFill>
              <a:srgbClr val="2B3948"/>
            </a:solidFill>
            <a:prstDash val="solid"/>
          </a:ln>
        </p:spPr>
      </p:sp>
      <p:sp>
        <p:nvSpPr>
          <p:cNvPr id="17" name="Shape 15"/>
          <p:cNvSpPr/>
          <p:nvPr/>
        </p:nvSpPr>
        <p:spPr>
          <a:xfrm>
            <a:off x="5303520" y="1920240"/>
            <a:ext cx="1463040" cy="45720"/>
          </a:xfrm>
          <a:prstGeom prst="rect">
            <a:avLst/>
          </a:prstGeom>
          <a:solidFill>
            <a:srgbClr val="34D399"/>
          </a:solidFill>
          <a:ln/>
        </p:spPr>
      </p:sp>
      <p:sp>
        <p:nvSpPr>
          <p:cNvPr id="18" name="Text 16"/>
          <p:cNvSpPr/>
          <p:nvPr/>
        </p:nvSpPr>
        <p:spPr>
          <a:xfrm>
            <a:off x="5303520" y="2057400"/>
            <a:ext cx="1463040" cy="365760"/>
          </a:xfrm>
          <a:prstGeom prst="rect">
            <a:avLst/>
          </a:prstGeom>
          <a:noFill/>
          <a:ln/>
        </p:spPr>
        <p:txBody>
          <a:bodyPr wrap="square" rtlCol="0" anchor="ctr"/>
          <a:lstStyle/>
          <a:p>
            <a:pPr algn="ctr" indent="0" marL="0">
              <a:buNone/>
            </a:pPr>
            <a:r>
              <a:rPr lang="en-US" sz="1300" b="1" dirty="0">
                <a:solidFill>
                  <a:srgbClr val="34D399"/>
                </a:solidFill>
                <a:latin typeface="Cambria" pitchFamily="34" charset="0"/>
                <a:ea typeface="Cambria" pitchFamily="34" charset="-122"/>
                <a:cs typeface="Cambria" pitchFamily="34" charset="-120"/>
              </a:rPr>
              <a:t>Diagnostics</a:t>
            </a:r>
            <a:endParaRPr lang="en-US" sz="1300" dirty="0"/>
          </a:p>
        </p:txBody>
      </p:sp>
      <p:sp>
        <p:nvSpPr>
          <p:cNvPr id="19" name="Text 17"/>
          <p:cNvSpPr/>
          <p:nvPr/>
        </p:nvSpPr>
        <p:spPr>
          <a:xfrm>
            <a:off x="5349240" y="2514600"/>
            <a:ext cx="1371600" cy="1005840"/>
          </a:xfrm>
          <a:prstGeom prst="rect">
            <a:avLst/>
          </a:prstGeom>
          <a:noFill/>
          <a:ln/>
        </p:spPr>
        <p:txBody>
          <a:bodyPr wrap="square" rtlCol="0" anchor="t"/>
          <a:lstStyle/>
          <a:p>
            <a:pPr algn="ctr" indent="0" marL="0">
              <a:buNone/>
            </a:pPr>
            <a:r>
              <a:rPr lang="en-US" sz="1000" dirty="0">
                <a:solidFill>
                  <a:srgbClr val="AEB8C4"/>
                </a:solidFill>
                <a:latin typeface="Calibri" pitchFamily="34" charset="0"/>
                <a:ea typeface="Calibri" pitchFamily="34" charset="-122"/>
                <a:cs typeface="Calibri" pitchFamily="34" charset="-120"/>
              </a:rPr>
              <a:t>error recovery,</a:t>
            </a:r>
            <a:endParaRPr lang="en-US" sz="1000" dirty="0"/>
          </a:p>
          <a:p>
            <a:pPr algn="ctr" indent="0" marL="0">
              <a:buNone/>
            </a:pPr>
            <a:r>
              <a:rPr lang="en-US" sz="1000" dirty="0">
                <a:solidFill>
                  <a:srgbClr val="AEB8C4"/>
                </a:solidFill>
                <a:latin typeface="Calibri" pitchFamily="34" charset="0"/>
                <a:ea typeface="Calibri" pitchFamily="34" charset="-122"/>
                <a:cs typeface="Calibri" pitchFamily="34" charset="-120"/>
              </a:rPr>
              <a:t>cascade suppression</a:t>
            </a:r>
            <a:endParaRPr lang="en-US" sz="1000" dirty="0"/>
          </a:p>
        </p:txBody>
      </p:sp>
      <p:sp>
        <p:nvSpPr>
          <p:cNvPr id="20" name="Shape 18"/>
          <p:cNvSpPr/>
          <p:nvPr/>
        </p:nvSpPr>
        <p:spPr>
          <a:xfrm>
            <a:off x="6858000" y="1920240"/>
            <a:ext cx="1463040" cy="1737360"/>
          </a:xfrm>
          <a:prstGeom prst="roundRect">
            <a:avLst>
              <a:gd name="adj" fmla="val 3750"/>
            </a:avLst>
          </a:prstGeom>
          <a:solidFill>
            <a:srgbClr val="1F2A38"/>
          </a:solidFill>
          <a:ln w="12700">
            <a:solidFill>
              <a:srgbClr val="2B3948"/>
            </a:solidFill>
            <a:prstDash val="solid"/>
          </a:ln>
        </p:spPr>
      </p:sp>
      <p:sp>
        <p:nvSpPr>
          <p:cNvPr id="21" name="Shape 19"/>
          <p:cNvSpPr/>
          <p:nvPr/>
        </p:nvSpPr>
        <p:spPr>
          <a:xfrm>
            <a:off x="6858000" y="1920240"/>
            <a:ext cx="1463040" cy="45720"/>
          </a:xfrm>
          <a:prstGeom prst="rect">
            <a:avLst/>
          </a:prstGeom>
          <a:solidFill>
            <a:srgbClr val="34D399"/>
          </a:solidFill>
          <a:ln/>
        </p:spPr>
      </p:sp>
      <p:sp>
        <p:nvSpPr>
          <p:cNvPr id="22" name="Text 20"/>
          <p:cNvSpPr/>
          <p:nvPr/>
        </p:nvSpPr>
        <p:spPr>
          <a:xfrm>
            <a:off x="6858000" y="2057400"/>
            <a:ext cx="1463040" cy="365760"/>
          </a:xfrm>
          <a:prstGeom prst="rect">
            <a:avLst/>
          </a:prstGeom>
          <a:noFill/>
          <a:ln/>
        </p:spPr>
        <p:txBody>
          <a:bodyPr wrap="square" rtlCol="0" anchor="ctr"/>
          <a:lstStyle/>
          <a:p>
            <a:pPr algn="ctr" indent="0" marL="0">
              <a:buNone/>
            </a:pPr>
            <a:r>
              <a:rPr lang="en-US" sz="1300" b="1" dirty="0">
                <a:solidFill>
                  <a:srgbClr val="34D399"/>
                </a:solidFill>
                <a:latin typeface="Cambria" pitchFamily="34" charset="0"/>
                <a:ea typeface="Cambria" pitchFamily="34" charset="-122"/>
                <a:cs typeface="Cambria" pitchFamily="34" charset="-120"/>
              </a:rPr>
              <a:t>TAC</a:t>
            </a:r>
            <a:endParaRPr lang="en-US" sz="1300" dirty="0"/>
          </a:p>
        </p:txBody>
      </p:sp>
      <p:sp>
        <p:nvSpPr>
          <p:cNvPr id="23" name="Text 21"/>
          <p:cNvSpPr/>
          <p:nvPr/>
        </p:nvSpPr>
        <p:spPr>
          <a:xfrm>
            <a:off x="6903720" y="2514600"/>
            <a:ext cx="1371600" cy="1005840"/>
          </a:xfrm>
          <a:prstGeom prst="rect">
            <a:avLst/>
          </a:prstGeom>
          <a:noFill/>
          <a:ln/>
        </p:spPr>
        <p:txBody>
          <a:bodyPr wrap="square" rtlCol="0" anchor="t"/>
          <a:lstStyle/>
          <a:p>
            <a:pPr algn="ctr" indent="0" marL="0">
              <a:buNone/>
            </a:pPr>
            <a:r>
              <a:rPr lang="en-US" sz="1000" dirty="0">
                <a:solidFill>
                  <a:srgbClr val="AEB8C4"/>
                </a:solidFill>
                <a:latin typeface="Calibri" pitchFamily="34" charset="0"/>
                <a:ea typeface="Calibri" pitchFamily="34" charset="-122"/>
                <a:cs typeface="Calibri" pitchFamily="34" charset="-120"/>
              </a:rPr>
              <a:t>intermediate code,</a:t>
            </a:r>
            <a:endParaRPr lang="en-US" sz="1000" dirty="0"/>
          </a:p>
          <a:p>
            <a:pPr algn="ctr" indent="0" marL="0">
              <a:buNone/>
            </a:pPr>
            <a:r>
              <a:rPr lang="en-US" sz="1000" dirty="0">
                <a:solidFill>
                  <a:srgbClr val="AEB8C4"/>
                </a:solidFill>
                <a:latin typeface="Calibri" pitchFamily="34" charset="0"/>
                <a:ea typeface="Calibri" pitchFamily="34" charset="-122"/>
                <a:cs typeface="Calibri" pitchFamily="34" charset="-120"/>
              </a:rPr>
              <a:t>short-circuit</a:t>
            </a:r>
            <a:endParaRPr lang="en-US" sz="1000" dirty="0"/>
          </a:p>
        </p:txBody>
      </p:sp>
      <p:sp>
        <p:nvSpPr>
          <p:cNvPr id="24" name="Shape 22"/>
          <p:cNvSpPr/>
          <p:nvPr/>
        </p:nvSpPr>
        <p:spPr>
          <a:xfrm>
            <a:off x="8412480" y="1920240"/>
            <a:ext cx="1463040" cy="1737360"/>
          </a:xfrm>
          <a:prstGeom prst="roundRect">
            <a:avLst>
              <a:gd name="adj" fmla="val 3750"/>
            </a:avLst>
          </a:prstGeom>
          <a:solidFill>
            <a:srgbClr val="1F2A38"/>
          </a:solidFill>
          <a:ln w="12700">
            <a:solidFill>
              <a:srgbClr val="2B3948"/>
            </a:solidFill>
            <a:prstDash val="solid"/>
          </a:ln>
        </p:spPr>
      </p:sp>
      <p:sp>
        <p:nvSpPr>
          <p:cNvPr id="25" name="Shape 23"/>
          <p:cNvSpPr/>
          <p:nvPr/>
        </p:nvSpPr>
        <p:spPr>
          <a:xfrm>
            <a:off x="8412480" y="1920240"/>
            <a:ext cx="1463040" cy="45720"/>
          </a:xfrm>
          <a:prstGeom prst="rect">
            <a:avLst/>
          </a:prstGeom>
          <a:solidFill>
            <a:srgbClr val="34D399"/>
          </a:solidFill>
          <a:ln/>
        </p:spPr>
      </p:sp>
      <p:sp>
        <p:nvSpPr>
          <p:cNvPr id="26" name="Text 24"/>
          <p:cNvSpPr/>
          <p:nvPr/>
        </p:nvSpPr>
        <p:spPr>
          <a:xfrm>
            <a:off x="8412480" y="2057400"/>
            <a:ext cx="1463040" cy="365760"/>
          </a:xfrm>
          <a:prstGeom prst="rect">
            <a:avLst/>
          </a:prstGeom>
          <a:noFill/>
          <a:ln/>
        </p:spPr>
        <p:txBody>
          <a:bodyPr wrap="square" rtlCol="0" anchor="ctr"/>
          <a:lstStyle/>
          <a:p>
            <a:pPr algn="ctr" indent="0" marL="0">
              <a:buNone/>
            </a:pPr>
            <a:r>
              <a:rPr lang="en-US" sz="1300" b="1" dirty="0">
                <a:solidFill>
                  <a:srgbClr val="34D399"/>
                </a:solidFill>
                <a:latin typeface="Cambria" pitchFamily="34" charset="0"/>
                <a:ea typeface="Cambria" pitchFamily="34" charset="-122"/>
                <a:cs typeface="Cambria" pitchFamily="34" charset="-120"/>
              </a:rPr>
              <a:t>SSA + opt</a:t>
            </a:r>
            <a:endParaRPr lang="en-US" sz="1300" dirty="0"/>
          </a:p>
        </p:txBody>
      </p:sp>
      <p:sp>
        <p:nvSpPr>
          <p:cNvPr id="27" name="Text 25"/>
          <p:cNvSpPr/>
          <p:nvPr/>
        </p:nvSpPr>
        <p:spPr>
          <a:xfrm>
            <a:off x="8458200" y="2514600"/>
            <a:ext cx="1371600" cy="1005840"/>
          </a:xfrm>
          <a:prstGeom prst="rect">
            <a:avLst/>
          </a:prstGeom>
          <a:noFill/>
          <a:ln/>
        </p:spPr>
        <p:txBody>
          <a:bodyPr wrap="square" rtlCol="0" anchor="t"/>
          <a:lstStyle/>
          <a:p>
            <a:pPr algn="ctr" indent="0" marL="0">
              <a:buNone/>
            </a:pPr>
            <a:r>
              <a:rPr lang="en-US" sz="1000" dirty="0">
                <a:solidFill>
                  <a:srgbClr val="AEB8C4"/>
                </a:solidFill>
                <a:latin typeface="Calibri" pitchFamily="34" charset="0"/>
                <a:ea typeface="Calibri" pitchFamily="34" charset="-122"/>
                <a:cs typeface="Calibri" pitchFamily="34" charset="-120"/>
              </a:rPr>
              <a:t>CFG, dominators,</a:t>
            </a:r>
            <a:endParaRPr lang="en-US" sz="1000" dirty="0"/>
          </a:p>
          <a:p>
            <a:pPr algn="ctr" indent="0" marL="0">
              <a:buNone/>
            </a:pPr>
            <a:r>
              <a:rPr lang="en-US" sz="1000" dirty="0">
                <a:solidFill>
                  <a:srgbClr val="AEB8C4"/>
                </a:solidFill>
                <a:latin typeface="Calibri" pitchFamily="34" charset="0"/>
                <a:ea typeface="Calibri" pitchFamily="34" charset="-122"/>
                <a:cs typeface="Calibri" pitchFamily="34" charset="-120"/>
              </a:rPr>
              <a:t>phi, folding, GVN</a:t>
            </a:r>
            <a:endParaRPr lang="en-US" sz="1000" dirty="0"/>
          </a:p>
        </p:txBody>
      </p:sp>
      <p:sp>
        <p:nvSpPr>
          <p:cNvPr id="28" name="Shape 26"/>
          <p:cNvSpPr/>
          <p:nvPr/>
        </p:nvSpPr>
        <p:spPr>
          <a:xfrm>
            <a:off x="9966960" y="1920240"/>
            <a:ext cx="1463040" cy="1737360"/>
          </a:xfrm>
          <a:prstGeom prst="roundRect">
            <a:avLst>
              <a:gd name="adj" fmla="val 3750"/>
            </a:avLst>
          </a:prstGeom>
          <a:solidFill>
            <a:srgbClr val="1F2A38"/>
          </a:solidFill>
          <a:ln w="12700">
            <a:solidFill>
              <a:srgbClr val="2B3948"/>
            </a:solidFill>
            <a:prstDash val="solid"/>
          </a:ln>
        </p:spPr>
      </p:sp>
      <p:sp>
        <p:nvSpPr>
          <p:cNvPr id="29" name="Shape 27"/>
          <p:cNvSpPr/>
          <p:nvPr/>
        </p:nvSpPr>
        <p:spPr>
          <a:xfrm>
            <a:off x="9966960" y="1920240"/>
            <a:ext cx="1463040" cy="45720"/>
          </a:xfrm>
          <a:prstGeom prst="rect">
            <a:avLst/>
          </a:prstGeom>
          <a:solidFill>
            <a:srgbClr val="34D399"/>
          </a:solidFill>
          <a:ln/>
        </p:spPr>
      </p:sp>
      <p:sp>
        <p:nvSpPr>
          <p:cNvPr id="30" name="Text 28"/>
          <p:cNvSpPr/>
          <p:nvPr/>
        </p:nvSpPr>
        <p:spPr>
          <a:xfrm>
            <a:off x="9966960" y="2057400"/>
            <a:ext cx="1463040" cy="365760"/>
          </a:xfrm>
          <a:prstGeom prst="rect">
            <a:avLst/>
          </a:prstGeom>
          <a:noFill/>
          <a:ln/>
        </p:spPr>
        <p:txBody>
          <a:bodyPr wrap="square" rtlCol="0" anchor="ctr"/>
          <a:lstStyle/>
          <a:p>
            <a:pPr algn="ctr" indent="0" marL="0">
              <a:buNone/>
            </a:pPr>
            <a:r>
              <a:rPr lang="en-US" sz="1300" b="1" dirty="0">
                <a:solidFill>
                  <a:srgbClr val="34D399"/>
                </a:solidFill>
                <a:latin typeface="Cambria" pitchFamily="34" charset="0"/>
                <a:ea typeface="Cambria" pitchFamily="34" charset="-122"/>
                <a:cs typeface="Cambria" pitchFamily="34" charset="-120"/>
              </a:rPr>
              <a:t>Interpreter</a:t>
            </a:r>
            <a:endParaRPr lang="en-US" sz="1300" dirty="0"/>
          </a:p>
        </p:txBody>
      </p:sp>
      <p:sp>
        <p:nvSpPr>
          <p:cNvPr id="31" name="Text 29"/>
          <p:cNvSpPr/>
          <p:nvPr/>
        </p:nvSpPr>
        <p:spPr>
          <a:xfrm>
            <a:off x="10012680" y="2514600"/>
            <a:ext cx="1371600" cy="1005840"/>
          </a:xfrm>
          <a:prstGeom prst="rect">
            <a:avLst/>
          </a:prstGeom>
          <a:noFill/>
          <a:ln/>
        </p:spPr>
        <p:txBody>
          <a:bodyPr wrap="square" rtlCol="0" anchor="t"/>
          <a:lstStyle/>
          <a:p>
            <a:pPr algn="ctr" indent="0" marL="0">
              <a:buNone/>
            </a:pPr>
            <a:r>
              <a:rPr lang="en-US" sz="1000" dirty="0">
                <a:solidFill>
                  <a:srgbClr val="AEB8C4"/>
                </a:solidFill>
                <a:latin typeface="Calibri" pitchFamily="34" charset="0"/>
                <a:ea typeface="Calibri" pitchFamily="34" charset="-122"/>
                <a:cs typeface="Calibri" pitchFamily="34" charset="-120"/>
              </a:rPr>
              <a:t>execution of IR,</a:t>
            </a:r>
            <a:endParaRPr lang="en-US" sz="1000" dirty="0"/>
          </a:p>
          <a:p>
            <a:pPr algn="ctr" indent="0" marL="0">
              <a:buNone/>
            </a:pPr>
            <a:r>
              <a:rPr lang="en-US" sz="1000" dirty="0">
                <a:solidFill>
                  <a:srgbClr val="AEB8C4"/>
                </a:solidFill>
                <a:latin typeface="Calibri" pitchFamily="34" charset="0"/>
                <a:ea typeface="Calibri" pitchFamily="34" charset="-122"/>
                <a:cs typeface="Calibri" pitchFamily="34" charset="-120"/>
              </a:rPr>
              <a:t>run-time checks</a:t>
            </a:r>
            <a:endParaRPr lang="en-US" sz="1000" dirty="0"/>
          </a:p>
        </p:txBody>
      </p:sp>
      <p:sp>
        <p:nvSpPr>
          <p:cNvPr id="32" name="Text 30"/>
          <p:cNvSpPr/>
          <p:nvPr/>
        </p:nvSpPr>
        <p:spPr>
          <a:xfrm>
            <a:off x="640080" y="3931920"/>
            <a:ext cx="10881360" cy="2286000"/>
          </a:xfrm>
          <a:prstGeom prst="rect">
            <a:avLst/>
          </a:prstGeom>
          <a:noFill/>
          <a:ln/>
        </p:spPr>
        <p:txBody>
          <a:bodyPr wrap="square"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driver.compile_source is the single entry point: the command line, the test suite and the benchmarks all call it, so they exercise identical code.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checker annotates the AST (types, unique names); code generation reads the annotations instead of repeating inference.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Recovery is a cross-cutting concern: lexer marks damaged tokens, parser repairs and resynchronises, checker poisons types, diagnostics pass de-duplicates. Each layer is a switch in RecoveryConfig.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Clean programs genuinely run: errors stop the pipeline after diagnostics, so no code is generated from a broken tree.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Optional -O converts TAC to SSA and back; the interpreter runs optimised and plain code alike.</a:t>
            </a:r>
            <a:endParaRPr lang="en-US" sz="1300" dirty="0"/>
          </a:p>
        </p:txBody>
      </p:sp>
      <p:sp>
        <p:nvSpPr>
          <p:cNvPr id="33" name="Text 31"/>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AEB8C4"/>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34" name="Text 3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AEB8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3 OF 10 — TECHNICAL COMPLEXITY: SSA AND THE OPTIMISER</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SSA form and an optimiser that must not change behaviour</a:t>
            </a:r>
            <a:endParaRPr lang="en-US" sz="2800" dirty="0"/>
          </a:p>
        </p:txBody>
      </p:sp>
      <p:sp>
        <p:nvSpPr>
          <p:cNvPr id="4" name="Shape 2"/>
          <p:cNvSpPr/>
          <p:nvPr/>
        </p:nvSpPr>
        <p:spPr>
          <a:xfrm>
            <a:off x="640080" y="1645920"/>
            <a:ext cx="5394960" cy="4206240"/>
          </a:xfrm>
          <a:prstGeom prst="roundRect">
            <a:avLst>
              <a:gd name="adj" fmla="val 1304"/>
            </a:avLst>
          </a:prstGeom>
          <a:solidFill>
            <a:srgbClr val="FFFFFF"/>
          </a:solidFill>
          <a:ln w="12700">
            <a:solidFill>
              <a:srgbClr val="DFE4E8"/>
            </a:solidFill>
            <a:prstDash val="solid"/>
          </a:ln>
        </p:spPr>
      </p:sp>
      <p:sp>
        <p:nvSpPr>
          <p:cNvPr id="5" name="Text 3"/>
          <p:cNvSpPr/>
          <p:nvPr/>
        </p:nvSpPr>
        <p:spPr>
          <a:xfrm>
            <a:off x="822960" y="1719072"/>
            <a:ext cx="5029200" cy="320040"/>
          </a:xfrm>
          <a:prstGeom prst="rect">
            <a:avLst/>
          </a:prstGeom>
          <a:noFill/>
          <a:ln/>
        </p:spPr>
        <p:txBody>
          <a:bodyPr wrap="square" rtlCol="0" anchor="ctr"/>
          <a:lstStyle/>
          <a:p>
            <a:pPr indent="0" marL="0">
              <a:buNone/>
            </a:pPr>
            <a:r>
              <a:rPr lang="en-US" sz="1400" b="1" dirty="0">
                <a:solidFill>
                  <a:srgbClr val="18855F"/>
                </a:solidFill>
                <a:latin typeface="Cambria" pitchFamily="34" charset="0"/>
                <a:ea typeface="Cambria" pitchFamily="34" charset="-122"/>
                <a:cs typeface="Cambria" pitchFamily="34" charset="-120"/>
              </a:rPr>
              <a:t>What SSA is</a:t>
            </a:r>
            <a:endParaRPr lang="en-US" sz="1400" dirty="0"/>
          </a:p>
        </p:txBody>
      </p:sp>
      <p:sp>
        <p:nvSpPr>
          <p:cNvPr id="6" name="Text 4"/>
          <p:cNvSpPr/>
          <p:nvPr/>
        </p:nvSpPr>
        <p:spPr>
          <a:xfrm>
            <a:off x="822960" y="2057400"/>
            <a:ext cx="5029200" cy="731520"/>
          </a:xfrm>
          <a:prstGeom prst="rect">
            <a:avLst/>
          </a:prstGeom>
          <a:noFill/>
          <a:ln/>
        </p:spPr>
        <p:txBody>
          <a:bodyPr wrap="square" rtlCol="0" anchor="t"/>
          <a:lstStyle/>
          <a:p>
            <a:pPr indent="0" marL="0">
              <a:buNone/>
            </a:pPr>
            <a:r>
              <a:rPr lang="en-US" sz="1150" dirty="0">
                <a:solidFill>
                  <a:srgbClr val="1B2430"/>
                </a:solidFill>
                <a:latin typeface="Calibri" pitchFamily="34" charset="0"/>
                <a:ea typeface="Calibri" pitchFamily="34" charset="-122"/>
                <a:cs typeface="Calibri" pitchFamily="34" charset="-120"/>
              </a:rPr>
              <a:t>Every variable is assigned exactly once (x$1, x$2, ...). Where paths join, a phi function picks the value by incoming edge, so every use has one definition.</a:t>
            </a:r>
            <a:endParaRPr lang="en-US" sz="1150" dirty="0"/>
          </a:p>
        </p:txBody>
      </p:sp>
      <p:sp>
        <p:nvSpPr>
          <p:cNvPr id="7" name="Text 5"/>
          <p:cNvSpPr/>
          <p:nvPr/>
        </p:nvSpPr>
        <p:spPr>
          <a:xfrm>
            <a:off x="822960" y="2834640"/>
            <a:ext cx="5029200" cy="640080"/>
          </a:xfrm>
          <a:prstGeom prst="rect">
            <a:avLst/>
          </a:prstGeom>
          <a:solidFill>
            <a:srgbClr val="EEF2F1"/>
          </a:solidFill>
          <a:ln/>
        </p:spPr>
        <p:txBody>
          <a:bodyPr wrap="square" rtlCol="0" anchor="ctr"/>
          <a:lstStyle/>
          <a:p>
            <a:pPr indent="0" marL="0">
              <a:buNone/>
            </a:pPr>
            <a:r>
              <a:rPr lang="en-US" sz="1100" dirty="0">
                <a:solidFill>
                  <a:srgbClr val="1B2430"/>
                </a:solidFill>
                <a:latin typeface="Courier New" pitchFamily="34" charset="0"/>
                <a:ea typeface="Courier New" pitchFamily="34" charset="-122"/>
                <a:cs typeface="Courier New" pitchFamily="34" charset="-120"/>
              </a:rPr>
              <a:t>L1:  i$2 = phi(B1: i$1, B3: i$3)</a:t>
            </a:r>
            <a:endParaRPr lang="en-US" sz="1100" dirty="0"/>
          </a:p>
          <a:p>
            <a:pPr indent="0" marL="0">
              <a:buNone/>
            </a:pPr>
            <a:r>
              <a:rPr lang="en-US" sz="1100" dirty="0">
                <a:solidFill>
                  <a:srgbClr val="1B2430"/>
                </a:solidFill>
                <a:latin typeface="Courier New" pitchFamily="34" charset="0"/>
                <a:ea typeface="Courier New" pitchFamily="34" charset="-122"/>
                <a:cs typeface="Courier New" pitchFamily="34" charset="-120"/>
              </a:rPr>
              <a:t>     t$1 = i$2 &lt; 5</a:t>
            </a:r>
            <a:endParaRPr lang="en-US" sz="1100" dirty="0"/>
          </a:p>
        </p:txBody>
      </p:sp>
      <p:sp>
        <p:nvSpPr>
          <p:cNvPr id="8" name="Text 6"/>
          <p:cNvSpPr/>
          <p:nvPr/>
        </p:nvSpPr>
        <p:spPr>
          <a:xfrm>
            <a:off x="822960" y="3566160"/>
            <a:ext cx="5029200" cy="2194560"/>
          </a:xfrm>
          <a:prstGeom prst="rect">
            <a:avLst/>
          </a:prstGeom>
          <a:noFill/>
          <a:ln/>
        </p:spPr>
        <p:txBody>
          <a:bodyPr wrap="square" rtlCol="0" anchor="t"/>
          <a:lstStyle/>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Basic blocks, critical-edge splitting, dominators (Cooper-Harvey-Kennedy), dominance frontiers</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Pruned phi placement on iterated frontiers; renaming by dominator-tree walk</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Phi elimination with parallel-copy sequencing (swap cycles broken by a temporary)</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verify_ssa checks single definition and dominance</a:t>
            </a:r>
            <a:endParaRPr lang="en-US" sz="1100" dirty="0"/>
          </a:p>
        </p:txBody>
      </p:sp>
      <p:sp>
        <p:nvSpPr>
          <p:cNvPr id="9" name="Shape 7"/>
          <p:cNvSpPr/>
          <p:nvPr/>
        </p:nvSpPr>
        <p:spPr>
          <a:xfrm>
            <a:off x="6309360" y="1645920"/>
            <a:ext cx="5212080" cy="2240280"/>
          </a:xfrm>
          <a:prstGeom prst="roundRect">
            <a:avLst>
              <a:gd name="adj" fmla="val 2449"/>
            </a:avLst>
          </a:prstGeom>
          <a:solidFill>
            <a:srgbClr val="FFFFFF"/>
          </a:solidFill>
          <a:ln w="12700">
            <a:solidFill>
              <a:srgbClr val="DFE4E8"/>
            </a:solidFill>
            <a:prstDash val="solid"/>
          </a:ln>
        </p:spPr>
      </p:sp>
      <p:sp>
        <p:nvSpPr>
          <p:cNvPr id="10" name="Text 8"/>
          <p:cNvSpPr/>
          <p:nvPr/>
        </p:nvSpPr>
        <p:spPr>
          <a:xfrm>
            <a:off x="6492240" y="1719072"/>
            <a:ext cx="4846320" cy="320040"/>
          </a:xfrm>
          <a:prstGeom prst="rect">
            <a:avLst/>
          </a:prstGeom>
          <a:noFill/>
          <a:ln/>
        </p:spPr>
        <p:txBody>
          <a:bodyPr wrap="square" rtlCol="0" anchor="ctr"/>
          <a:lstStyle/>
          <a:p>
            <a:pPr indent="0" marL="0">
              <a:buNone/>
            </a:pPr>
            <a:r>
              <a:rPr lang="en-US" sz="1400" b="1" dirty="0">
                <a:solidFill>
                  <a:srgbClr val="18855F"/>
                </a:solidFill>
                <a:latin typeface="Cambria" pitchFamily="34" charset="0"/>
                <a:ea typeface="Cambria" pitchFamily="34" charset="-122"/>
                <a:cs typeface="Cambria" pitchFamily="34" charset="-120"/>
              </a:rPr>
              <a:t>Passes (run to a fixpoint)</a:t>
            </a:r>
            <a:endParaRPr lang="en-US" sz="1400" dirty="0"/>
          </a:p>
        </p:txBody>
      </p:sp>
      <p:sp>
        <p:nvSpPr>
          <p:cNvPr id="11" name="Text 9"/>
          <p:cNvSpPr/>
          <p:nvPr/>
        </p:nvSpPr>
        <p:spPr>
          <a:xfrm>
            <a:off x="6492240" y="2084832"/>
            <a:ext cx="4846320" cy="1737360"/>
          </a:xfrm>
          <a:prstGeom prst="rect">
            <a:avLst/>
          </a:prstGeom>
          <a:noFill/>
          <a:ln/>
        </p:spPr>
        <p:txBody>
          <a:bodyPr wrap="square" rtlCol="0" anchor="t"/>
          <a:lstStyle/>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Constant folding and propagation, branch folding</a:t>
            </a:r>
            <a:endParaRPr lang="en-US" sz="1150" dirty="0"/>
          </a:p>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Copy propagation, trivial-phi removal</a:t>
            </a:r>
            <a:endParaRPr lang="en-US" sz="1150" dirty="0"/>
          </a:p>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Global value numbering (CSE over the dominator tree)</a:t>
            </a:r>
            <a:endParaRPr lang="en-US" sz="1150" dirty="0"/>
          </a:p>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Dead-code elimination; jump threading, block merging</a:t>
            </a:r>
            <a:endParaRPr lang="en-US" sz="1150" dirty="0"/>
          </a:p>
        </p:txBody>
      </p:sp>
      <p:sp>
        <p:nvSpPr>
          <p:cNvPr id="12" name="Shape 10"/>
          <p:cNvSpPr/>
          <p:nvPr/>
        </p:nvSpPr>
        <p:spPr>
          <a:xfrm>
            <a:off x="6309360" y="4023360"/>
            <a:ext cx="5212080" cy="1828800"/>
          </a:xfrm>
          <a:prstGeom prst="roundRect">
            <a:avLst>
              <a:gd name="adj" fmla="val 3000"/>
            </a:avLst>
          </a:prstGeom>
          <a:solidFill>
            <a:srgbClr val="FFFFFF"/>
          </a:solidFill>
          <a:ln w="12700">
            <a:solidFill>
              <a:srgbClr val="DFE4E8"/>
            </a:solidFill>
            <a:prstDash val="solid"/>
          </a:ln>
        </p:spPr>
      </p:sp>
      <p:sp>
        <p:nvSpPr>
          <p:cNvPr id="13" name="Text 11"/>
          <p:cNvSpPr/>
          <p:nvPr/>
        </p:nvSpPr>
        <p:spPr>
          <a:xfrm>
            <a:off x="6492240" y="4096512"/>
            <a:ext cx="4846320" cy="320040"/>
          </a:xfrm>
          <a:prstGeom prst="rect">
            <a:avLst/>
          </a:prstGeom>
          <a:noFill/>
          <a:ln/>
        </p:spPr>
        <p:txBody>
          <a:bodyPr wrap="square" rtlCol="0" anchor="ctr"/>
          <a:lstStyle/>
          <a:p>
            <a:pPr indent="0" marL="0">
              <a:buNone/>
            </a:pPr>
            <a:r>
              <a:rPr lang="en-US" sz="1400" b="1" dirty="0">
                <a:solidFill>
                  <a:srgbClr val="18855F"/>
                </a:solidFill>
                <a:latin typeface="Cambria" pitchFamily="34" charset="0"/>
                <a:ea typeface="Cambria" pitchFamily="34" charset="-122"/>
                <a:cs typeface="Cambria" pitchFamily="34" charset="-120"/>
              </a:rPr>
              <a:t>Safety rule</a:t>
            </a:r>
            <a:endParaRPr lang="en-US" sz="1400" dirty="0"/>
          </a:p>
        </p:txBody>
      </p:sp>
      <p:sp>
        <p:nvSpPr>
          <p:cNvPr id="14" name="Text 12"/>
          <p:cNvSpPr/>
          <p:nvPr/>
        </p:nvSpPr>
        <p:spPr>
          <a:xfrm>
            <a:off x="6492240" y="4462272"/>
            <a:ext cx="4846320" cy="1325880"/>
          </a:xfrm>
          <a:prstGeom prst="rect">
            <a:avLst/>
          </a:prstGeom>
          <a:noFill/>
          <a:ln/>
        </p:spPr>
        <p:txBody>
          <a:bodyPr wrap="square" rtlCol="0" anchor="t"/>
          <a:lstStyle/>
          <a:p>
            <a:pPr indent="0" marL="0">
              <a:buNone/>
            </a:pPr>
            <a:r>
              <a:rPr lang="en-US" sz="1150" dirty="0">
                <a:solidFill>
                  <a:srgbClr val="1B2430"/>
                </a:solidFill>
                <a:latin typeface="Calibri" pitchFamily="34" charset="0"/>
                <a:ea typeface="Calibri" pitchFamily="34" charset="-122"/>
                <a:cs typeface="Calibri" pitchFamily="34" charset="-120"/>
              </a:rPr>
              <a:t>Anything that can fail at run time (overflow, divide by zero, array bounds) is never folded or deleted, so int unused = 1 / z; still stops with R0001. Calls, print and stores to globals are kept.</a:t>
            </a:r>
            <a:endParaRPr lang="en-US" sz="1150" dirty="0"/>
          </a:p>
        </p:txBody>
      </p:sp>
      <p:sp>
        <p:nvSpPr>
          <p:cNvPr id="15" name="Text 1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16" name="Text 1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CRITERION 2 OF 10 — CORRECTNESS AND EFFECT OF THE OPTIMISER</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5,000 random programs behave identically; 27% fewer steps</a:t>
            </a:r>
            <a:endParaRPr lang="en-US" sz="2800" dirty="0"/>
          </a:p>
        </p:txBody>
      </p:sp>
      <p:sp>
        <p:nvSpPr>
          <p:cNvPr id="4" name="Shape 2"/>
          <p:cNvSpPr/>
          <p:nvPr/>
        </p:nvSpPr>
        <p:spPr>
          <a:xfrm>
            <a:off x="640080" y="1645920"/>
            <a:ext cx="2560320" cy="1234440"/>
          </a:xfrm>
          <a:prstGeom prst="roundRect">
            <a:avLst>
              <a:gd name="adj" fmla="val 4444"/>
            </a:avLst>
          </a:prstGeom>
          <a:solidFill>
            <a:srgbClr val="1F2A38"/>
          </a:solidFill>
          <a:ln w="12700">
            <a:solidFill>
              <a:srgbClr val="2B3948"/>
            </a:solidFill>
            <a:prstDash val="solid"/>
          </a:ln>
        </p:spPr>
      </p:sp>
      <p:sp>
        <p:nvSpPr>
          <p:cNvPr id="5" name="Text 3"/>
          <p:cNvSpPr/>
          <p:nvPr/>
        </p:nvSpPr>
        <p:spPr>
          <a:xfrm>
            <a:off x="640080" y="1755648"/>
            <a:ext cx="2560320" cy="658368"/>
          </a:xfrm>
          <a:prstGeom prst="rect">
            <a:avLst/>
          </a:prstGeom>
          <a:noFill/>
          <a:ln/>
        </p:spPr>
        <p:txBody>
          <a:bodyPr wrap="square" rtlCol="0" anchor="ctr"/>
          <a:lstStyle/>
          <a:p>
            <a:pPr algn="ctr" indent="0" marL="0">
              <a:buNone/>
            </a:pPr>
            <a:r>
              <a:rPr lang="en-US" sz="3000" b="1" dirty="0">
                <a:solidFill>
                  <a:srgbClr val="34D399"/>
                </a:solidFill>
                <a:latin typeface="Cambria" pitchFamily="34" charset="0"/>
                <a:ea typeface="Cambria" pitchFamily="34" charset="-122"/>
                <a:cs typeface="Cambria" pitchFamily="34" charset="-120"/>
              </a:rPr>
              <a:t>0</a:t>
            </a:r>
            <a:endParaRPr lang="en-US" sz="3000" dirty="0"/>
          </a:p>
        </p:txBody>
      </p:sp>
      <p:sp>
        <p:nvSpPr>
          <p:cNvPr id="6" name="Text 4"/>
          <p:cNvSpPr/>
          <p:nvPr/>
        </p:nvSpPr>
        <p:spPr>
          <a:xfrm>
            <a:off x="731520" y="2395728"/>
            <a:ext cx="2377440" cy="457200"/>
          </a:xfrm>
          <a:prstGeom prst="rect">
            <a:avLst/>
          </a:prstGeom>
          <a:noFill/>
          <a:ln/>
        </p:spPr>
        <p:txBody>
          <a:bodyPr wrap="square" rtlCol="0" anchor="t"/>
          <a:lstStyle/>
          <a:p>
            <a:pPr algn="ctr" indent="0" marL="0">
              <a:buNone/>
            </a:pPr>
            <a:r>
              <a:rPr lang="en-US" sz="1050" dirty="0">
                <a:solidFill>
                  <a:srgbClr val="AEB8C4"/>
                </a:solidFill>
                <a:latin typeface="Calibri" pitchFamily="34" charset="0"/>
                <a:ea typeface="Calibri" pitchFamily="34" charset="-122"/>
                <a:cs typeface="Calibri" pitchFamily="34" charset="-120"/>
              </a:rPr>
              <a:t>mismatches in 5,000 random programs</a:t>
            </a:r>
            <a:endParaRPr lang="en-US" sz="1050" dirty="0"/>
          </a:p>
          <a:p>
            <a:pPr algn="ctr" indent="0" marL="0">
              <a:buNone/>
            </a:pPr>
            <a:r>
              <a:rPr lang="en-US" sz="1050" dirty="0">
                <a:solidFill>
                  <a:srgbClr val="AEB8C4"/>
                </a:solidFill>
                <a:latin typeface="Calibri" pitchFamily="34" charset="0"/>
                <a:ea typeface="Calibri" pitchFamily="34" charset="-122"/>
                <a:cs typeface="Calibri" pitchFamily="34" charset="-120"/>
              </a:rPr>
              <a:t>(1,472 end in a run-time error)</a:t>
            </a:r>
            <a:endParaRPr lang="en-US" sz="1050" dirty="0"/>
          </a:p>
        </p:txBody>
      </p:sp>
      <p:sp>
        <p:nvSpPr>
          <p:cNvPr id="7" name="Shape 5"/>
          <p:cNvSpPr/>
          <p:nvPr/>
        </p:nvSpPr>
        <p:spPr>
          <a:xfrm>
            <a:off x="3383280" y="1645920"/>
            <a:ext cx="2560320" cy="1234440"/>
          </a:xfrm>
          <a:prstGeom prst="roundRect">
            <a:avLst>
              <a:gd name="adj" fmla="val 4444"/>
            </a:avLst>
          </a:prstGeom>
          <a:solidFill>
            <a:srgbClr val="1F2A38"/>
          </a:solidFill>
          <a:ln w="12700">
            <a:solidFill>
              <a:srgbClr val="2B3948"/>
            </a:solidFill>
            <a:prstDash val="solid"/>
          </a:ln>
        </p:spPr>
      </p:sp>
      <p:sp>
        <p:nvSpPr>
          <p:cNvPr id="8" name="Text 6"/>
          <p:cNvSpPr/>
          <p:nvPr/>
        </p:nvSpPr>
        <p:spPr>
          <a:xfrm>
            <a:off x="3383280" y="1755648"/>
            <a:ext cx="2560320" cy="658368"/>
          </a:xfrm>
          <a:prstGeom prst="rect">
            <a:avLst/>
          </a:prstGeom>
          <a:noFill/>
          <a:ln/>
        </p:spPr>
        <p:txBody>
          <a:bodyPr wrap="square" rtlCol="0" anchor="ctr"/>
          <a:lstStyle/>
          <a:p>
            <a:pPr algn="ctr" indent="0" marL="0">
              <a:buNone/>
            </a:pPr>
            <a:r>
              <a:rPr lang="en-US" sz="3000" b="1" dirty="0">
                <a:solidFill>
                  <a:srgbClr val="34D399"/>
                </a:solidFill>
                <a:latin typeface="Cambria" pitchFamily="34" charset="0"/>
                <a:ea typeface="Cambria" pitchFamily="34" charset="-122"/>
                <a:cs typeface="Cambria" pitchFamily="34" charset="-120"/>
              </a:rPr>
              <a:t>27%</a:t>
            </a:r>
            <a:endParaRPr lang="en-US" sz="3000" dirty="0"/>
          </a:p>
        </p:txBody>
      </p:sp>
      <p:sp>
        <p:nvSpPr>
          <p:cNvPr id="9" name="Text 7"/>
          <p:cNvSpPr/>
          <p:nvPr/>
        </p:nvSpPr>
        <p:spPr>
          <a:xfrm>
            <a:off x="3474720" y="2395728"/>
            <a:ext cx="2377440" cy="457200"/>
          </a:xfrm>
          <a:prstGeom prst="rect">
            <a:avLst/>
          </a:prstGeom>
          <a:noFill/>
          <a:ln/>
        </p:spPr>
        <p:txBody>
          <a:bodyPr wrap="square" rtlCol="0" anchor="t"/>
          <a:lstStyle/>
          <a:p>
            <a:pPr algn="ctr" indent="0" marL="0">
              <a:buNone/>
            </a:pPr>
            <a:r>
              <a:rPr lang="en-US" sz="1050" dirty="0">
                <a:solidFill>
                  <a:srgbClr val="AEB8C4"/>
                </a:solidFill>
                <a:latin typeface="Calibri" pitchFamily="34" charset="0"/>
                <a:ea typeface="Calibri" pitchFamily="34" charset="-122"/>
                <a:cs typeface="Calibri" pitchFamily="34" charset="-120"/>
              </a:rPr>
              <a:t>fewer TAC steps on 17 real programs</a:t>
            </a:r>
            <a:endParaRPr lang="en-US" sz="1050" dirty="0"/>
          </a:p>
        </p:txBody>
      </p:sp>
      <p:sp>
        <p:nvSpPr>
          <p:cNvPr id="10" name="Shape 8"/>
          <p:cNvSpPr/>
          <p:nvPr/>
        </p:nvSpPr>
        <p:spPr>
          <a:xfrm>
            <a:off x="6126480" y="1645920"/>
            <a:ext cx="2560320" cy="1234440"/>
          </a:xfrm>
          <a:prstGeom prst="roundRect">
            <a:avLst>
              <a:gd name="adj" fmla="val 4444"/>
            </a:avLst>
          </a:prstGeom>
          <a:solidFill>
            <a:srgbClr val="1F2A38"/>
          </a:solidFill>
          <a:ln w="12700">
            <a:solidFill>
              <a:srgbClr val="2B3948"/>
            </a:solidFill>
            <a:prstDash val="solid"/>
          </a:ln>
        </p:spPr>
      </p:sp>
      <p:sp>
        <p:nvSpPr>
          <p:cNvPr id="11" name="Text 9"/>
          <p:cNvSpPr/>
          <p:nvPr/>
        </p:nvSpPr>
        <p:spPr>
          <a:xfrm>
            <a:off x="6126480" y="1755648"/>
            <a:ext cx="2560320" cy="658368"/>
          </a:xfrm>
          <a:prstGeom prst="rect">
            <a:avLst/>
          </a:prstGeom>
          <a:noFill/>
          <a:ln/>
        </p:spPr>
        <p:txBody>
          <a:bodyPr wrap="square" rtlCol="0" anchor="ctr"/>
          <a:lstStyle/>
          <a:p>
            <a:pPr algn="ctr" indent="0" marL="0">
              <a:buNone/>
            </a:pPr>
            <a:r>
              <a:rPr lang="en-US" sz="3000" b="1" dirty="0">
                <a:solidFill>
                  <a:srgbClr val="34D399"/>
                </a:solidFill>
                <a:latin typeface="Cambria" pitchFamily="34" charset="0"/>
                <a:ea typeface="Cambria" pitchFamily="34" charset="-122"/>
                <a:cs typeface="Cambria" pitchFamily="34" charset="-120"/>
              </a:rPr>
              <a:t>48%</a:t>
            </a:r>
            <a:endParaRPr lang="en-US" sz="3000" dirty="0"/>
          </a:p>
        </p:txBody>
      </p:sp>
      <p:sp>
        <p:nvSpPr>
          <p:cNvPr id="12" name="Text 10"/>
          <p:cNvSpPr/>
          <p:nvPr/>
        </p:nvSpPr>
        <p:spPr>
          <a:xfrm>
            <a:off x="6217920" y="2395728"/>
            <a:ext cx="2377440" cy="457200"/>
          </a:xfrm>
          <a:prstGeom prst="rect">
            <a:avLst/>
          </a:prstGeom>
          <a:noFill/>
          <a:ln/>
        </p:spPr>
        <p:txBody>
          <a:bodyPr wrap="square" rtlCol="0" anchor="t"/>
          <a:lstStyle/>
          <a:p>
            <a:pPr algn="ctr" indent="0" marL="0">
              <a:buNone/>
            </a:pPr>
            <a:r>
              <a:rPr lang="en-US" sz="1050" dirty="0">
                <a:solidFill>
                  <a:srgbClr val="AEB8C4"/>
                </a:solidFill>
                <a:latin typeface="Calibri" pitchFamily="34" charset="0"/>
                <a:ea typeface="Calibri" pitchFamily="34" charset="-122"/>
                <a:cs typeface="Calibri" pitchFamily="34" charset="-120"/>
              </a:rPr>
              <a:t>fewer on the demo (47 to 15 instructions)</a:t>
            </a:r>
            <a:endParaRPr lang="en-US" sz="1050" dirty="0"/>
          </a:p>
        </p:txBody>
      </p:sp>
      <p:sp>
        <p:nvSpPr>
          <p:cNvPr id="13" name="Shape 11"/>
          <p:cNvSpPr/>
          <p:nvPr/>
        </p:nvSpPr>
        <p:spPr>
          <a:xfrm>
            <a:off x="8869680" y="1645920"/>
            <a:ext cx="2651760" cy="1234440"/>
          </a:xfrm>
          <a:prstGeom prst="roundRect">
            <a:avLst>
              <a:gd name="adj" fmla="val 4444"/>
            </a:avLst>
          </a:prstGeom>
          <a:solidFill>
            <a:srgbClr val="1F2A38"/>
          </a:solidFill>
          <a:ln w="12700">
            <a:solidFill>
              <a:srgbClr val="2B3948"/>
            </a:solidFill>
            <a:prstDash val="solid"/>
          </a:ln>
        </p:spPr>
      </p:sp>
      <p:sp>
        <p:nvSpPr>
          <p:cNvPr id="14" name="Text 12"/>
          <p:cNvSpPr/>
          <p:nvPr/>
        </p:nvSpPr>
        <p:spPr>
          <a:xfrm>
            <a:off x="8869680" y="1755648"/>
            <a:ext cx="2651760" cy="658368"/>
          </a:xfrm>
          <a:prstGeom prst="rect">
            <a:avLst/>
          </a:prstGeom>
          <a:noFill/>
          <a:ln/>
        </p:spPr>
        <p:txBody>
          <a:bodyPr wrap="square" rtlCol="0" anchor="ctr"/>
          <a:lstStyle/>
          <a:p>
            <a:pPr algn="ctr" indent="0" marL="0">
              <a:buNone/>
            </a:pPr>
            <a:r>
              <a:rPr lang="en-US" sz="3000" b="1" dirty="0">
                <a:solidFill>
                  <a:srgbClr val="34D399"/>
                </a:solidFill>
                <a:latin typeface="Cambria" pitchFamily="34" charset="0"/>
                <a:ea typeface="Cambria" pitchFamily="34" charset="-122"/>
                <a:cs typeface="Cambria" pitchFamily="34" charset="-120"/>
              </a:rPr>
              <a:t>1</a:t>
            </a:r>
            <a:endParaRPr lang="en-US" sz="3000" dirty="0"/>
          </a:p>
        </p:txBody>
      </p:sp>
      <p:sp>
        <p:nvSpPr>
          <p:cNvPr id="15" name="Text 13"/>
          <p:cNvSpPr/>
          <p:nvPr/>
        </p:nvSpPr>
        <p:spPr>
          <a:xfrm>
            <a:off x="8961120" y="2395728"/>
            <a:ext cx="2468880" cy="457200"/>
          </a:xfrm>
          <a:prstGeom prst="rect">
            <a:avLst/>
          </a:prstGeom>
          <a:noFill/>
          <a:ln/>
        </p:spPr>
        <p:txBody>
          <a:bodyPr wrap="square" rtlCol="0" anchor="t"/>
          <a:lstStyle/>
          <a:p>
            <a:pPr algn="ctr" indent="0" marL="0">
              <a:buNone/>
            </a:pPr>
            <a:r>
              <a:rPr lang="en-US" sz="1050" dirty="0">
                <a:solidFill>
                  <a:srgbClr val="AEB8C4"/>
                </a:solidFill>
                <a:latin typeface="Calibri" pitchFamily="34" charset="0"/>
                <a:ea typeface="Calibri" pitchFamily="34" charset="-122"/>
                <a:cs typeface="Calibri" pitchFamily="34" charset="-120"/>
              </a:rPr>
              <a:t>real bug found by the campaign and fixed:</a:t>
            </a:r>
            <a:endParaRPr lang="en-US" sz="1050" dirty="0"/>
          </a:p>
          <a:p>
            <a:pPr algn="ctr" indent="0" marL="0">
              <a:buNone/>
            </a:pPr>
            <a:r>
              <a:rPr lang="en-US" sz="1050" dirty="0">
                <a:solidFill>
                  <a:srgbClr val="AEB8C4"/>
                </a:solidFill>
                <a:latin typeface="Calibri" pitchFamily="34" charset="0"/>
                <a:ea typeface="Calibri" pitchFamily="34" charset="-122"/>
                <a:cs typeface="Calibri" pitchFamily="34" charset="-120"/>
              </a:rPr>
              <a:t>string + was treated as commutative</a:t>
            </a:r>
            <a:endParaRPr lang="en-US" sz="1050" dirty="0"/>
          </a:p>
        </p:txBody>
      </p:sp>
      <p:sp>
        <p:nvSpPr>
          <p:cNvPr id="16" name="Text 14"/>
          <p:cNvSpPr/>
          <p:nvPr/>
        </p:nvSpPr>
        <p:spPr>
          <a:xfrm>
            <a:off x="640080" y="3931920"/>
            <a:ext cx="10881360" cy="2194560"/>
          </a:xfrm>
          <a:prstGeom prst="rect">
            <a:avLst/>
          </a:prstGeom>
          <a:noFill/>
          <a:ln/>
        </p:spPr>
        <p:txBody>
          <a:bodyPr wrap="square"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Run it: python3 lumenc.py examples/optimize_demo.lum -O --opt-stats --emit-ssa</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Ablation: dead-code elimination and constant propagation matter most; CSE is small on these programs.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SSA round trip with every pass off adds about 15% steps (extra copies); the passes more than pay for it.</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Optimiser cost grows slightly faster than linear (slope 1.27): 1.4 s at 6,400 lines. Opt-in with -O.</a:t>
            </a:r>
            <a:endParaRPr lang="en-US" sz="1250" dirty="0"/>
          </a:p>
        </p:txBody>
      </p:sp>
      <p:sp>
        <p:nvSpPr>
          <p:cNvPr id="17" name="Text 1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AEB8C4"/>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18"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AEB8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5 OF 10 — INNOVATION</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What is original: a compiler that is measured, not just built</a:t>
            </a:r>
            <a:endParaRPr lang="en-US" sz="2800" dirty="0"/>
          </a:p>
        </p:txBody>
      </p:sp>
      <p:sp>
        <p:nvSpPr>
          <p:cNvPr id="4" name="Shape 2"/>
          <p:cNvSpPr/>
          <p:nvPr/>
        </p:nvSpPr>
        <p:spPr>
          <a:xfrm>
            <a:off x="640080" y="1645920"/>
            <a:ext cx="5349240" cy="1965960"/>
          </a:xfrm>
          <a:prstGeom prst="roundRect">
            <a:avLst>
              <a:gd name="adj" fmla="val 2791"/>
            </a:avLst>
          </a:prstGeom>
          <a:solidFill>
            <a:srgbClr val="FFFFFF"/>
          </a:solidFill>
          <a:ln w="12700">
            <a:solidFill>
              <a:srgbClr val="DFE4E8"/>
            </a:solidFill>
            <a:prstDash val="solid"/>
          </a:ln>
        </p:spPr>
      </p:sp>
      <p:sp>
        <p:nvSpPr>
          <p:cNvPr id="5" name="Text 3"/>
          <p:cNvSpPr/>
          <p:nvPr/>
        </p:nvSpPr>
        <p:spPr>
          <a:xfrm>
            <a:off x="822960" y="1755648"/>
            <a:ext cx="4983480" cy="365760"/>
          </a:xfrm>
          <a:prstGeom prst="rect">
            <a:avLst/>
          </a:prstGeom>
          <a:noFill/>
          <a:ln/>
        </p:spPr>
        <p:txBody>
          <a:bodyPr wrap="square" rtlCol="0" anchor="ctr"/>
          <a:lstStyle/>
          <a:p>
            <a:pPr indent="0" marL="0">
              <a:buNone/>
            </a:pPr>
            <a:r>
              <a:rPr lang="en-US" sz="1500" b="1" dirty="0">
                <a:solidFill>
                  <a:srgbClr val="18855F"/>
                </a:solidFill>
                <a:latin typeface="Cambria" pitchFamily="34" charset="0"/>
                <a:ea typeface="Cambria" pitchFamily="34" charset="-122"/>
                <a:cs typeface="Cambria" pitchFamily="34" charset="-120"/>
              </a:rPr>
              <a:t>Every recovery technique is a switch</a:t>
            </a:r>
            <a:endParaRPr lang="en-US" sz="1500" dirty="0"/>
          </a:p>
        </p:txBody>
      </p:sp>
      <p:sp>
        <p:nvSpPr>
          <p:cNvPr id="6" name="Text 4"/>
          <p:cNvSpPr/>
          <p:nvPr/>
        </p:nvSpPr>
        <p:spPr>
          <a:xfrm>
            <a:off x="822960" y="2194560"/>
            <a:ext cx="4983480" cy="1325880"/>
          </a:xfrm>
          <a:prstGeom prst="rect">
            <a:avLst/>
          </a:prstGeom>
          <a:noFill/>
          <a:ln/>
        </p:spPr>
        <p:txBody>
          <a:bodyPr wrap="square" rtlCol="0" anchor="t"/>
          <a:lstStyle/>
          <a:p>
            <a:pPr indent="0" marL="0">
              <a:buNone/>
            </a:pPr>
            <a:r>
              <a:rPr lang="en-US" sz="1250" dirty="0">
                <a:solidFill>
                  <a:srgbClr val="1B2430"/>
                </a:solidFill>
                <a:latin typeface="Calibri" pitchFamily="34" charset="0"/>
                <a:ea typeface="Calibri" pitchFamily="34" charset="-122"/>
                <a:cs typeface="Calibri" pitchFamily="34" charset="-120"/>
              </a:rPr>
              <a:t>Eight layers can be turned off one at a time, so the effect of each is measured by ablation rather than assumed. Two choices were changed because the data said so.</a:t>
            </a:r>
            <a:endParaRPr lang="en-US" sz="1250" dirty="0"/>
          </a:p>
        </p:txBody>
      </p:sp>
      <p:sp>
        <p:nvSpPr>
          <p:cNvPr id="7" name="Shape 5"/>
          <p:cNvSpPr/>
          <p:nvPr/>
        </p:nvSpPr>
        <p:spPr>
          <a:xfrm>
            <a:off x="6172200" y="1645920"/>
            <a:ext cx="5349240" cy="1965960"/>
          </a:xfrm>
          <a:prstGeom prst="roundRect">
            <a:avLst>
              <a:gd name="adj" fmla="val 2791"/>
            </a:avLst>
          </a:prstGeom>
          <a:solidFill>
            <a:srgbClr val="FFFFFF"/>
          </a:solidFill>
          <a:ln w="12700">
            <a:solidFill>
              <a:srgbClr val="DFE4E8"/>
            </a:solidFill>
            <a:prstDash val="solid"/>
          </a:ln>
        </p:spPr>
      </p:sp>
      <p:sp>
        <p:nvSpPr>
          <p:cNvPr id="8" name="Text 6"/>
          <p:cNvSpPr/>
          <p:nvPr/>
        </p:nvSpPr>
        <p:spPr>
          <a:xfrm>
            <a:off x="6355080" y="1755648"/>
            <a:ext cx="4983480" cy="365760"/>
          </a:xfrm>
          <a:prstGeom prst="rect">
            <a:avLst/>
          </a:prstGeom>
          <a:noFill/>
          <a:ln/>
        </p:spPr>
        <p:txBody>
          <a:bodyPr wrap="square" rtlCol="0" anchor="ctr"/>
          <a:lstStyle/>
          <a:p>
            <a:pPr indent="0" marL="0">
              <a:buNone/>
            </a:pPr>
            <a:r>
              <a:rPr lang="en-US" sz="1500" b="1" dirty="0">
                <a:solidFill>
                  <a:srgbClr val="18855F"/>
                </a:solidFill>
                <a:latin typeface="Cambria" pitchFamily="34" charset="0"/>
                <a:ea typeface="Cambria" pitchFamily="34" charset="-122"/>
                <a:cs typeface="Cambria" pitchFamily="34" charset="-120"/>
              </a:rPr>
              <a:t>Applicability classes</a:t>
            </a:r>
            <a:endParaRPr lang="en-US" sz="1500" dirty="0"/>
          </a:p>
        </p:txBody>
      </p:sp>
      <p:sp>
        <p:nvSpPr>
          <p:cNvPr id="9" name="Text 7"/>
          <p:cNvSpPr/>
          <p:nvPr/>
        </p:nvSpPr>
        <p:spPr>
          <a:xfrm>
            <a:off x="6355080" y="2194560"/>
            <a:ext cx="4983480" cy="1325880"/>
          </a:xfrm>
          <a:prstGeom prst="rect">
            <a:avLst/>
          </a:prstGeom>
          <a:noFill/>
          <a:ln/>
        </p:spPr>
        <p:txBody>
          <a:bodyPr wrap="square" rtlCol="0" anchor="t"/>
          <a:lstStyle/>
          <a:p>
            <a:pPr indent="0" marL="0">
              <a:buNone/>
            </a:pPr>
            <a:r>
              <a:rPr lang="en-US" sz="1250" dirty="0">
                <a:solidFill>
                  <a:srgbClr val="1B2430"/>
                </a:solidFill>
                <a:latin typeface="Calibri" pitchFamily="34" charset="0"/>
                <a:ea typeface="Calibri" pitchFamily="34" charset="-122"/>
                <a:cs typeface="Calibri" pitchFamily="34" charset="-120"/>
              </a:rPr>
              <a:t>Each suggested fix is machine-applicable or maybe-incorrect (as in rustc). --fix applies only the first kind. Measured wrong-fix rate: 0 safe, 18.8% for guesses.</a:t>
            </a:r>
            <a:endParaRPr lang="en-US" sz="1250" dirty="0"/>
          </a:p>
        </p:txBody>
      </p:sp>
      <p:sp>
        <p:nvSpPr>
          <p:cNvPr id="10" name="Shape 8"/>
          <p:cNvSpPr/>
          <p:nvPr/>
        </p:nvSpPr>
        <p:spPr>
          <a:xfrm>
            <a:off x="640080" y="3794760"/>
            <a:ext cx="5349240" cy="1965960"/>
          </a:xfrm>
          <a:prstGeom prst="roundRect">
            <a:avLst>
              <a:gd name="adj" fmla="val 2791"/>
            </a:avLst>
          </a:prstGeom>
          <a:solidFill>
            <a:srgbClr val="FFFFFF"/>
          </a:solidFill>
          <a:ln w="12700">
            <a:solidFill>
              <a:srgbClr val="DFE4E8"/>
            </a:solidFill>
            <a:prstDash val="solid"/>
          </a:ln>
        </p:spPr>
      </p:sp>
      <p:sp>
        <p:nvSpPr>
          <p:cNvPr id="11" name="Text 9"/>
          <p:cNvSpPr/>
          <p:nvPr/>
        </p:nvSpPr>
        <p:spPr>
          <a:xfrm>
            <a:off x="822960" y="3904488"/>
            <a:ext cx="4983480" cy="365760"/>
          </a:xfrm>
          <a:prstGeom prst="rect">
            <a:avLst/>
          </a:prstGeom>
          <a:noFill/>
          <a:ln/>
        </p:spPr>
        <p:txBody>
          <a:bodyPr wrap="square" rtlCol="0" anchor="ctr"/>
          <a:lstStyle/>
          <a:p>
            <a:pPr indent="0" marL="0">
              <a:buNone/>
            </a:pPr>
            <a:r>
              <a:rPr lang="en-US" sz="1500" b="1" dirty="0">
                <a:solidFill>
                  <a:srgbClr val="18855F"/>
                </a:solidFill>
                <a:latin typeface="Cambria" pitchFamily="34" charset="0"/>
                <a:ea typeface="Cambria" pitchFamily="34" charset="-122"/>
                <a:cs typeface="Cambria" pitchFamily="34" charset="-120"/>
              </a:rPr>
              <a:t>Known-ground-truth evaluation</a:t>
            </a:r>
            <a:endParaRPr lang="en-US" sz="1500" dirty="0"/>
          </a:p>
        </p:txBody>
      </p:sp>
      <p:sp>
        <p:nvSpPr>
          <p:cNvPr id="12" name="Text 10"/>
          <p:cNvSpPr/>
          <p:nvPr/>
        </p:nvSpPr>
        <p:spPr>
          <a:xfrm>
            <a:off x="822960" y="4343400"/>
            <a:ext cx="4983480" cy="1325880"/>
          </a:xfrm>
          <a:prstGeom prst="rect">
            <a:avLst/>
          </a:prstGeom>
          <a:noFill/>
          <a:ln/>
        </p:spPr>
        <p:txBody>
          <a:bodyPr wrap="square" rtlCol="0" anchor="t"/>
          <a:lstStyle/>
          <a:p>
            <a:pPr indent="0" marL="0">
              <a:buNone/>
            </a:pPr>
            <a:r>
              <a:rPr lang="en-US" sz="1250" dirty="0">
                <a:solidFill>
                  <a:srgbClr val="1B2430"/>
                </a:solidFill>
                <a:latin typeface="Calibri" pitchFamily="34" charset="0"/>
                <a:ea typeface="Calibri" pitchFamily="34" charset="-122"/>
                <a:cs typeface="Calibri" pitchFamily="34" charset="-120"/>
              </a:rPr>
              <a:t>377 single-defect, 120 three-defect and 300 random-token mutants, with fail-fast and no-recovery baselines, Wilson intervals, and a held-out corpus.</a:t>
            </a:r>
            <a:endParaRPr lang="en-US" sz="1250" dirty="0"/>
          </a:p>
        </p:txBody>
      </p:sp>
      <p:sp>
        <p:nvSpPr>
          <p:cNvPr id="13" name="Shape 11"/>
          <p:cNvSpPr/>
          <p:nvPr/>
        </p:nvSpPr>
        <p:spPr>
          <a:xfrm>
            <a:off x="6172200" y="3794760"/>
            <a:ext cx="5349240" cy="1965960"/>
          </a:xfrm>
          <a:prstGeom prst="roundRect">
            <a:avLst>
              <a:gd name="adj" fmla="val 2791"/>
            </a:avLst>
          </a:prstGeom>
          <a:solidFill>
            <a:srgbClr val="FFFFFF"/>
          </a:solidFill>
          <a:ln w="12700">
            <a:solidFill>
              <a:srgbClr val="DFE4E8"/>
            </a:solidFill>
            <a:prstDash val="solid"/>
          </a:ln>
        </p:spPr>
      </p:sp>
      <p:sp>
        <p:nvSpPr>
          <p:cNvPr id="14" name="Text 12"/>
          <p:cNvSpPr/>
          <p:nvPr/>
        </p:nvSpPr>
        <p:spPr>
          <a:xfrm>
            <a:off x="6355080" y="3904488"/>
            <a:ext cx="4983480" cy="365760"/>
          </a:xfrm>
          <a:prstGeom prst="rect">
            <a:avLst/>
          </a:prstGeom>
          <a:noFill/>
          <a:ln/>
        </p:spPr>
        <p:txBody>
          <a:bodyPr wrap="square" rtlCol="0" anchor="ctr"/>
          <a:lstStyle/>
          <a:p>
            <a:pPr indent="0" marL="0">
              <a:buNone/>
            </a:pPr>
            <a:r>
              <a:rPr lang="en-US" sz="1500" b="1" dirty="0">
                <a:solidFill>
                  <a:srgbClr val="18855F"/>
                </a:solidFill>
                <a:latin typeface="Cambria" pitchFamily="34" charset="0"/>
                <a:ea typeface="Cambria" pitchFamily="34" charset="-122"/>
                <a:cs typeface="Cambria" pitchFamily="34" charset="-120"/>
              </a:rPr>
              <a:t>SSA optimiser checked by differential testing</a:t>
            </a:r>
            <a:endParaRPr lang="en-US" sz="1500" dirty="0"/>
          </a:p>
        </p:txBody>
      </p:sp>
      <p:sp>
        <p:nvSpPr>
          <p:cNvPr id="15" name="Text 13"/>
          <p:cNvSpPr/>
          <p:nvPr/>
        </p:nvSpPr>
        <p:spPr>
          <a:xfrm>
            <a:off x="6355080" y="4343400"/>
            <a:ext cx="4983480" cy="1325880"/>
          </a:xfrm>
          <a:prstGeom prst="rect">
            <a:avLst/>
          </a:prstGeom>
          <a:noFill/>
          <a:ln/>
        </p:spPr>
        <p:txBody>
          <a:bodyPr wrap="square" rtlCol="0" anchor="t"/>
          <a:lstStyle/>
          <a:p>
            <a:pPr indent="0" marL="0">
              <a:buNone/>
            </a:pPr>
            <a:r>
              <a:rPr lang="en-US" sz="1250" dirty="0">
                <a:solidFill>
                  <a:srgbClr val="1B2430"/>
                </a:solidFill>
                <a:latin typeface="Calibri" pitchFamily="34" charset="0"/>
                <a:ea typeface="Calibri" pitchFamily="34" charset="-122"/>
                <a:cs typeface="Calibri" pitchFamily="34" charset="-120"/>
              </a:rPr>
              <a:t>Constant, copy, CSE and dead-code passes on pruned SSA; 5,000 random programs behave identically optimised and not, including run-time errors. Dead code that can fail is never removed.</a:t>
            </a:r>
            <a:endParaRPr lang="en-US" sz="1250" dirty="0"/>
          </a:p>
        </p:txBody>
      </p:sp>
      <p:sp>
        <p:nvSpPr>
          <p:cNvPr id="16" name="Text 14"/>
          <p:cNvSpPr/>
          <p:nvPr/>
        </p:nvSpPr>
        <p:spPr>
          <a:xfrm>
            <a:off x="640080" y="5943600"/>
            <a:ext cx="10881360" cy="365760"/>
          </a:xfrm>
          <a:prstGeom prst="rect">
            <a:avLst/>
          </a:prstGeom>
          <a:noFill/>
          <a:ln/>
        </p:spPr>
        <p:txBody>
          <a:bodyPr wrap="square"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Honest scope: the optimiser is per-function with no inlining or loop hoisting. The techniques (panic mode, phrase-level repair, edit-distance suggestions) are standard; the contribution is combining them and evaluating each one.</a:t>
            </a:r>
            <a:endParaRPr lang="en-US" sz="1100" dirty="0"/>
          </a:p>
        </p:txBody>
      </p:sp>
      <p:sp>
        <p:nvSpPr>
          <p:cNvPr id="17" name="Text 1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18"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6 OF 10 — CODE QUALITY</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Structure: small modules, one job each, one entry point</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6492240" cy="914400"/>
        </p:xfrm>
        <a:graphic>
          <a:graphicData uri="http://schemas.openxmlformats.org/drawingml/2006/table">
            <a:tbl>
              <a:tblPr/>
              <a:tblGrid>
                <a:gridCol w="1371600"/>
                <a:gridCol w="2377440"/>
                <a:gridCol w="274320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Folder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Contents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r>
              <a:tr h="502920">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lumen/</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22 files, 5,100 lines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lexer, parser, checker, repair, TAC, SSA, optimiser, interpreter</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lumenc.py</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172 lines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command-line interface and exit codes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502920">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14 files, 459 tests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table-driven cases plus machinery tests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eval/</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corpus, harness, perf, baselines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evaluation corpora, harness and benchmarks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502920">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tools/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3 generators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TEST_CASES.md, ERROR_CODES.md, evidence images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docs/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language, architecture, results, evidence</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everything reproducible from the repo</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bl>
          </a:graphicData>
        </a:graphic>
      </p:graphicFrame>
      <p:sp>
        <p:nvSpPr>
          <p:cNvPr id="5" name="Shape 2"/>
          <p:cNvSpPr/>
          <p:nvPr/>
        </p:nvSpPr>
        <p:spPr>
          <a:xfrm>
            <a:off x="7406640" y="1645920"/>
            <a:ext cx="4114800" cy="4023360"/>
          </a:xfrm>
          <a:prstGeom prst="roundRect">
            <a:avLst>
              <a:gd name="adj" fmla="val 1364"/>
            </a:avLst>
          </a:prstGeom>
          <a:solidFill>
            <a:srgbClr val="FFFFFF"/>
          </a:solidFill>
          <a:ln w="12700">
            <a:solidFill>
              <a:srgbClr val="DFE4E8"/>
            </a:solidFill>
            <a:prstDash val="solid"/>
          </a:ln>
        </p:spPr>
      </p:sp>
      <p:sp>
        <p:nvSpPr>
          <p:cNvPr id="6" name="Text 3"/>
          <p:cNvSpPr/>
          <p:nvPr/>
        </p:nvSpPr>
        <p:spPr>
          <a:xfrm>
            <a:off x="7589520" y="1737360"/>
            <a:ext cx="3749040" cy="365760"/>
          </a:xfrm>
          <a:prstGeom prst="rect">
            <a:avLst/>
          </a:prstGeom>
          <a:noFill/>
          <a:ln/>
        </p:spPr>
        <p:txBody>
          <a:bodyPr wrap="square" rtlCol="0" anchor="ctr"/>
          <a:lstStyle/>
          <a:p>
            <a:pPr indent="0" marL="0">
              <a:buNone/>
            </a:pPr>
            <a:r>
              <a:rPr lang="en-US" sz="1500" b="1" dirty="0">
                <a:solidFill>
                  <a:srgbClr val="18855F"/>
                </a:solidFill>
                <a:latin typeface="Cambria" pitchFamily="34" charset="0"/>
                <a:ea typeface="Cambria" pitchFamily="34" charset="-122"/>
                <a:cs typeface="Cambria" pitchFamily="34" charset="-120"/>
              </a:rPr>
              <a:t>Quality practices</a:t>
            </a:r>
            <a:endParaRPr lang="en-US" sz="1500" dirty="0"/>
          </a:p>
        </p:txBody>
      </p:sp>
      <p:sp>
        <p:nvSpPr>
          <p:cNvPr id="7" name="Text 4"/>
          <p:cNvSpPr/>
          <p:nvPr/>
        </p:nvSpPr>
        <p:spPr>
          <a:xfrm>
            <a:off x="7589520" y="2148840"/>
            <a:ext cx="3749040" cy="3474720"/>
          </a:xfrm>
          <a:prstGeom prst="rect">
            <a:avLst/>
          </a:prstGeom>
          <a:noFill/>
          <a:ln/>
        </p:spPr>
        <p:txBody>
          <a:bodyPr wrap="square" rtlCol="0" anchor="t"/>
          <a:lstStyle/>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Most modules open with a docstring saying what they do and why.</a:t>
            </a:r>
            <a:endParaRPr lang="en-US" sz="1150" dirty="0"/>
          </a:p>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Diagnostics are data (code, span, help, edits), not formatted strings.</a:t>
            </a:r>
            <a:endParaRPr lang="en-US" sz="1150" dirty="0"/>
          </a:p>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Grammar and error catalogue are data, checked by tests.</a:t>
            </a:r>
            <a:endParaRPr lang="en-US" sz="1150" dirty="0"/>
          </a:p>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No hidden state: results are deterministic from the seed.</a:t>
            </a:r>
            <a:endParaRPr lang="en-US" sz="1150" dirty="0"/>
          </a:p>
          <a:p>
            <a:pPr marL="342900" indent="-342900">
              <a:spcAft>
                <a:spcPts val="600"/>
              </a:spcAft>
              <a:buSzPct val="100000"/>
              <a:buChar char="•"/>
            </a:pPr>
            <a:r>
              <a:rPr lang="en-US" sz="1150" dirty="0">
                <a:solidFill>
                  <a:srgbClr val="1B2430"/>
                </a:solidFill>
                <a:latin typeface="Calibri" pitchFamily="34" charset="0"/>
                <a:ea typeface="Calibri" pitchFamily="34" charset="-122"/>
                <a:cs typeface="Calibri" pitchFamily="34" charset="-120"/>
              </a:rPr>
              <a:t>Benchmarks found and fixed a quadratic cost; tests pin every bug fixed.</a:t>
            </a:r>
            <a:endParaRPr lang="en-US" sz="1150" dirty="0"/>
          </a:p>
        </p:txBody>
      </p:sp>
      <p:sp>
        <p:nvSpPr>
          <p:cNvPr id="8"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9" name="Text 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7 OF 10 — TESTING</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Comprehensive validation: every input class the brief names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6949440" cy="914400"/>
        </p:xfrm>
        <a:graphic>
          <a:graphicData uri="http://schemas.openxmlformats.org/drawingml/2006/table">
            <a:tbl>
              <a:tblPr/>
              <a:tblGrid>
                <a:gridCol w="1554480"/>
                <a:gridCol w="731520"/>
                <a:gridCol w="4663440"/>
              </a:tblGrid>
              <a:tr h="5669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Input class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Cases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r>
              <a:tr h="566928">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Valid</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precedence, truncating division, widening, short-circuit, shadowing, recursion, arrays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Invalid</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one case per diagnostic family: lexical, syntax, scope, type, call, return path</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566928">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Boundary</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empty file, INT_MAX/INT_MIN, array index = length, depth 3000, 5000-term expression, 2000 statements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Error and recovery</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single defect gives one error; three defects give each once; cascade cases</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566928">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Complex</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00" dirty="0">
                          <a:solidFill>
                            <a:srgbClr val="1B2430"/>
                          </a:solidFill>
                          <a:latin typeface="Calibri" pitchFamily="34" charset="0"/>
                          <a:ea typeface="Calibri" pitchFamily="34" charset="-122"/>
                          <a:cs typeface="Calibri" pitchFamily="34" charset="-120"/>
                        </a:rPr>
                        <a:t>primes, bubble sort, gcd, Collatz, statistics, Fibonacci, sieve</a:t>
                      </a:r>
                      <a:endParaRPr lang="en-US" sz="110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bl>
          </a:graphicData>
        </a:graphic>
      </p:graphicFrame>
      <p:sp>
        <p:nvSpPr>
          <p:cNvPr id="5" name="Shape 2"/>
          <p:cNvSpPr/>
          <p:nvPr/>
        </p:nvSpPr>
        <p:spPr>
          <a:xfrm>
            <a:off x="7863840" y="1645920"/>
            <a:ext cx="1828800" cy="1234440"/>
          </a:xfrm>
          <a:prstGeom prst="roundRect">
            <a:avLst>
              <a:gd name="adj" fmla="val 4444"/>
            </a:avLst>
          </a:prstGeom>
          <a:solidFill>
            <a:srgbClr val="FFFFFF"/>
          </a:solidFill>
          <a:ln w="12700">
            <a:solidFill>
              <a:srgbClr val="DFE4E8"/>
            </a:solidFill>
            <a:prstDash val="solid"/>
          </a:ln>
        </p:spPr>
      </p:sp>
      <p:sp>
        <p:nvSpPr>
          <p:cNvPr id="6" name="Text 3"/>
          <p:cNvSpPr/>
          <p:nvPr/>
        </p:nvSpPr>
        <p:spPr>
          <a:xfrm>
            <a:off x="7863840" y="1755648"/>
            <a:ext cx="1828800" cy="658368"/>
          </a:xfrm>
          <a:prstGeom prst="rect">
            <a:avLst/>
          </a:prstGeom>
          <a:noFill/>
          <a:ln/>
        </p:spPr>
        <p:txBody>
          <a:bodyPr wrap="square" rtlCol="0" anchor="ctr"/>
          <a:lstStyle/>
          <a:p>
            <a:pPr algn="ctr" indent="0" marL="0">
              <a:buNone/>
            </a:pPr>
            <a:r>
              <a:rPr lang="en-US" sz="3000" b="1" dirty="0">
                <a:solidFill>
                  <a:srgbClr val="18855F"/>
                </a:solidFill>
                <a:latin typeface="Cambria" pitchFamily="34" charset="0"/>
                <a:ea typeface="Cambria" pitchFamily="34" charset="-122"/>
                <a:cs typeface="Cambria" pitchFamily="34" charset="-120"/>
              </a:rPr>
              <a:t>459</a:t>
            </a:r>
            <a:endParaRPr lang="en-US" sz="3000" dirty="0"/>
          </a:p>
        </p:txBody>
      </p:sp>
      <p:sp>
        <p:nvSpPr>
          <p:cNvPr id="7" name="Text 4"/>
          <p:cNvSpPr/>
          <p:nvPr/>
        </p:nvSpPr>
        <p:spPr>
          <a:xfrm>
            <a:off x="7955280" y="2395728"/>
            <a:ext cx="1645920" cy="457200"/>
          </a:xfrm>
          <a:prstGeom prst="rect">
            <a:avLst/>
          </a:prstGeom>
          <a:noFill/>
          <a:ln/>
        </p:spPr>
        <p:txBody>
          <a:bodyPr wrap="square"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tests, all pass</a:t>
            </a:r>
            <a:endParaRPr lang="en-US" sz="1050" dirty="0"/>
          </a:p>
        </p:txBody>
      </p:sp>
      <p:sp>
        <p:nvSpPr>
          <p:cNvPr id="8" name="Shape 5"/>
          <p:cNvSpPr/>
          <p:nvPr/>
        </p:nvSpPr>
        <p:spPr>
          <a:xfrm>
            <a:off x="9784080" y="1645920"/>
            <a:ext cx="1737360" cy="1234440"/>
          </a:xfrm>
          <a:prstGeom prst="roundRect">
            <a:avLst>
              <a:gd name="adj" fmla="val 4444"/>
            </a:avLst>
          </a:prstGeom>
          <a:solidFill>
            <a:srgbClr val="FFFFFF"/>
          </a:solidFill>
          <a:ln w="12700">
            <a:solidFill>
              <a:srgbClr val="DFE4E8"/>
            </a:solidFill>
            <a:prstDash val="solid"/>
          </a:ln>
        </p:spPr>
      </p:sp>
      <p:sp>
        <p:nvSpPr>
          <p:cNvPr id="9" name="Text 6"/>
          <p:cNvSpPr/>
          <p:nvPr/>
        </p:nvSpPr>
        <p:spPr>
          <a:xfrm>
            <a:off x="9784080" y="1755648"/>
            <a:ext cx="1737360" cy="658368"/>
          </a:xfrm>
          <a:prstGeom prst="rect">
            <a:avLst/>
          </a:prstGeom>
          <a:noFill/>
          <a:ln/>
        </p:spPr>
        <p:txBody>
          <a:bodyPr wrap="square" rtlCol="0" anchor="ctr"/>
          <a:lstStyle/>
          <a:p>
            <a:pPr algn="ctr" indent="0" marL="0">
              <a:buNone/>
            </a:pPr>
            <a:r>
              <a:rPr lang="en-US" sz="3000" b="1" dirty="0">
                <a:solidFill>
                  <a:srgbClr val="18855F"/>
                </a:solidFill>
                <a:latin typeface="Cambria" pitchFamily="34" charset="0"/>
                <a:ea typeface="Cambria" pitchFamily="34" charset="-122"/>
                <a:cs typeface="Cambria" pitchFamily="34" charset="-120"/>
              </a:rPr>
              <a:t>125</a:t>
            </a:r>
            <a:endParaRPr lang="en-US" sz="3000" dirty="0"/>
          </a:p>
        </p:txBody>
      </p:sp>
      <p:sp>
        <p:nvSpPr>
          <p:cNvPr id="10" name="Text 7"/>
          <p:cNvSpPr/>
          <p:nvPr/>
        </p:nvSpPr>
        <p:spPr>
          <a:xfrm>
            <a:off x="9875520" y="2395728"/>
            <a:ext cx="1554480" cy="457200"/>
          </a:xfrm>
          <a:prstGeom prst="rect">
            <a:avLst/>
          </a:prstGeom>
          <a:noFill/>
          <a:ln/>
        </p:spPr>
        <p:txBody>
          <a:bodyPr wrap="square" rtlCol="0" anchor="t"/>
          <a:lstStyle/>
          <a:p>
            <a:pPr algn="ctr" indent="0" marL="0">
              <a:buNone/>
            </a:pPr>
            <a:r>
              <a:rPr lang="en-US" sz="1050" dirty="0">
                <a:solidFill>
                  <a:srgbClr val="5B6472"/>
                </a:solidFill>
                <a:latin typeface="Calibri" pitchFamily="34" charset="0"/>
                <a:ea typeface="Calibri" pitchFamily="34" charset="-122"/>
                <a:cs typeface="Calibri" pitchFamily="34" charset="-120"/>
              </a:rPr>
              <a:t>named cases</a:t>
            </a:r>
            <a:endParaRPr lang="en-US" sz="1050" dirty="0"/>
          </a:p>
        </p:txBody>
      </p:sp>
      <p:sp>
        <p:nvSpPr>
          <p:cNvPr id="11" name="Shape 8"/>
          <p:cNvSpPr/>
          <p:nvPr/>
        </p:nvSpPr>
        <p:spPr>
          <a:xfrm>
            <a:off x="7863840" y="3063240"/>
            <a:ext cx="3657600" cy="2286000"/>
          </a:xfrm>
          <a:prstGeom prst="roundRect">
            <a:avLst>
              <a:gd name="adj" fmla="val 2400"/>
            </a:avLst>
          </a:prstGeom>
          <a:solidFill>
            <a:srgbClr val="FFFFFF"/>
          </a:solidFill>
          <a:ln w="12700">
            <a:solidFill>
              <a:srgbClr val="DFE4E8"/>
            </a:solidFill>
            <a:prstDash val="solid"/>
          </a:ln>
        </p:spPr>
      </p:sp>
      <p:sp>
        <p:nvSpPr>
          <p:cNvPr id="12" name="Text 9"/>
          <p:cNvSpPr/>
          <p:nvPr/>
        </p:nvSpPr>
        <p:spPr>
          <a:xfrm>
            <a:off x="8046720" y="3127248"/>
            <a:ext cx="3291840" cy="320040"/>
          </a:xfrm>
          <a:prstGeom prst="rect">
            <a:avLst/>
          </a:prstGeom>
          <a:noFill/>
          <a:ln/>
        </p:spPr>
        <p:txBody>
          <a:bodyPr wrap="square" rtlCol="0" anchor="ctr"/>
          <a:lstStyle/>
          <a:p>
            <a:pPr indent="0" marL="0">
              <a:buNone/>
            </a:pPr>
            <a:r>
              <a:rPr lang="en-US" sz="1400" b="1" dirty="0">
                <a:solidFill>
                  <a:srgbClr val="18855F"/>
                </a:solidFill>
                <a:latin typeface="Cambria" pitchFamily="34" charset="0"/>
                <a:ea typeface="Cambria" pitchFamily="34" charset="-122"/>
                <a:cs typeface="Cambria" pitchFamily="34" charset="-120"/>
              </a:rPr>
              <a:t>Beyond the cases</a:t>
            </a:r>
            <a:endParaRPr lang="en-US" sz="1400" dirty="0"/>
          </a:p>
        </p:txBody>
      </p:sp>
      <p:sp>
        <p:nvSpPr>
          <p:cNvPr id="13" name="Text 10"/>
          <p:cNvSpPr/>
          <p:nvPr/>
        </p:nvSpPr>
        <p:spPr>
          <a:xfrm>
            <a:off x="8046720" y="3474720"/>
            <a:ext cx="3383280" cy="1828800"/>
          </a:xfrm>
          <a:prstGeom prst="rect">
            <a:avLst/>
          </a:prstGeom>
          <a:noFill/>
          <a:ln/>
        </p:spPr>
        <p:txBody>
          <a:bodyPr wrap="square" rtlCol="0" anchor="t"/>
          <a:lstStyle/>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grammar tables and LL(1) check</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fixer idempotence and fixpoint</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52-entry error catalogue</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19 regression tests for bugs found</a:t>
            </a:r>
            <a:endParaRPr lang="en-US" sz="1100" dirty="0"/>
          </a:p>
          <a:p>
            <a:pPr marL="342900" indent="-3429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command-line exit codes</a:t>
            </a:r>
            <a:endParaRPr lang="en-US" sz="1100" dirty="0"/>
          </a:p>
        </p:txBody>
      </p:sp>
      <p:sp>
        <p:nvSpPr>
          <p:cNvPr id="14" name="Text 11"/>
          <p:cNvSpPr/>
          <p:nvPr/>
        </p:nvSpPr>
        <p:spPr>
          <a:xfrm>
            <a:off x="640080" y="5577840"/>
            <a:ext cx="10881360" cy="457200"/>
          </a:xfrm>
          <a:prstGeom prst="rect">
            <a:avLst/>
          </a:prstGeom>
          <a:noFill/>
          <a:ln/>
        </p:spPr>
        <p:txBody>
          <a:bodyPr wrap="square" rtlCol="0" anchor="ctr"/>
          <a:lstStyle/>
          <a:p>
            <a:pPr indent="0" marL="0">
              <a:buNone/>
            </a:pPr>
            <a:r>
              <a:rPr lang="en-US" sz="1200" dirty="0">
                <a:solidFill>
                  <a:srgbClr val="1B2430"/>
                </a:solidFill>
                <a:latin typeface="Calibri" pitchFamily="34" charset="0"/>
                <a:ea typeface="Calibri" pitchFamily="34" charset="-122"/>
                <a:cs typeface="Calibri" pitchFamily="34" charset="-120"/>
              </a:rPr>
              <a:t>Plus a statistical evaluation: 377 + 120 + 300 seeded-defect programs against fail-fast and no-recovery baselines (results on the next slide).</a:t>
            </a:r>
            <a:endParaRPr lang="en-US" sz="1200" dirty="0"/>
          </a:p>
        </p:txBody>
      </p:sp>
      <p:sp>
        <p:nvSpPr>
          <p:cNvPr id="15" name="Text 12"/>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16" name="Text 1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CRITERION 7 OF 10 — TESTING: EVALUATION RESULTS</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Recovery makes the difference, and each layer was measured</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3291840"/>
                <a:gridCol w="2651760"/>
                <a:gridCol w="1645920"/>
                <a:gridCol w="2103120"/>
                <a:gridCol w="1188720"/>
              </a:tblGrid>
              <a:tr h="457200">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Config</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26364A"/>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One-error-at-defect (single)</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26364A"/>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Recall (3 defects)</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26364A"/>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Precision (3 defects)</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26364A"/>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Hangs</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26364A"/>
                    </a:solidFill>
                  </a:tcPr>
                </a:tc>
              </a:tr>
              <a:tr h="457200">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Fail-fast (stop at first error)</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r>
              <a:tr h="457200">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No recovery layers</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B2634"/>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56.0%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B2634"/>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B2634"/>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70.5%</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B2634"/>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B2634"/>
                    </a:solidFill>
                  </a:tcPr>
                </a:tc>
              </a:tr>
              <a:tr h="457200">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Lumen (all layers on)</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98.9%</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c>
                  <a:txBody>
                    <a:bodyPr/>
                    <a:lstStyle/>
                    <a:p>
                      <a:pPr indent="0" marL="0">
                        <a:buNone/>
                      </a:pPr>
                      <a:r>
                        <a:rPr lang="en-US" sz="1200" b="1" dirty="0">
                          <a:solidFill>
                            <a:srgbClr val="34D399"/>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6350" cap="flat" cmpd="sng" algn="ctr">
                      <a:solidFill>
                        <a:srgbClr val="2B3948"/>
                      </a:solidFill>
                      <a:prstDash val="solid"/>
                      <a:round/>
                      <a:headEnd type="none" w="med" len="med"/>
                      <a:tailEnd type="none" w="med" len="med"/>
                    </a:lnL>
                    <a:lnR w="6350" cap="flat" cmpd="sng" algn="ctr">
                      <a:solidFill>
                        <a:srgbClr val="2B3948"/>
                      </a:solidFill>
                      <a:prstDash val="solid"/>
                      <a:round/>
                      <a:headEnd type="none" w="med" len="med"/>
                      <a:tailEnd type="none" w="med" len="med"/>
                    </a:lnR>
                    <a:lnT w="6350" cap="flat" cmpd="sng" algn="ctr">
                      <a:solidFill>
                        <a:srgbClr val="2B3948"/>
                      </a:solidFill>
                      <a:prstDash val="solid"/>
                      <a:round/>
                      <a:headEnd type="none" w="med" len="med"/>
                      <a:tailEnd type="none" w="med" len="med"/>
                    </a:lnT>
                    <a:lnB w="6350" cap="flat" cmpd="sng" algn="ctr">
                      <a:solidFill>
                        <a:srgbClr val="2B3948"/>
                      </a:solidFill>
                      <a:prstDash val="solid"/>
                      <a:round/>
                      <a:headEnd type="none" w="med" len="med"/>
                      <a:tailEnd type="none" w="med" len="med"/>
                    </a:lnB>
                    <a:solidFill>
                      <a:srgbClr val="1F2A38"/>
                    </a:solidFill>
                  </a:tcPr>
                </a:tc>
              </a:tr>
            </a:tbl>
          </a:graphicData>
        </a:graphic>
      </p:graphicFrame>
      <p:sp>
        <p:nvSpPr>
          <p:cNvPr id="5" name="Text 2"/>
          <p:cNvSpPr/>
          <p:nvPr/>
        </p:nvSpPr>
        <p:spPr>
          <a:xfrm>
            <a:off x="640080" y="4114800"/>
            <a:ext cx="10881360" cy="2103120"/>
          </a:xfrm>
          <a:prstGeom prst="rect">
            <a:avLst/>
          </a:prstGeom>
          <a:noFill/>
          <a:ln/>
        </p:spPr>
        <p:txBody>
          <a:bodyPr wrap="square"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Held-out corpus (seed 9001), never examined while tuning; the development corpus gives 99.5%.</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Fail-fast looks perfect on one defect, but finds only a third of three defects.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On harder random token damage Lumen is 72% clean (no recovery 25%): cascades remain there.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Ablation: phrase-level repair, error poisoning, token poisoning, the 3-token error gap and statement muting matter; containment suppression and variable poisoning showed no measurable effect.</a:t>
            </a:r>
            <a:endParaRPr lang="en-US" sz="1250" dirty="0"/>
          </a:p>
        </p:txBody>
      </p:sp>
      <p:sp>
        <p:nvSpPr>
          <p:cNvPr id="6" name="Text 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AEB8C4"/>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AEB8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8 OF 10 — DEMONSTRATION</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Live demo script: four commands, about three minutes</a:t>
            </a:r>
            <a:endParaRPr lang="en-US" sz="2800" dirty="0"/>
          </a:p>
        </p:txBody>
      </p:sp>
      <p:sp>
        <p:nvSpPr>
          <p:cNvPr id="4" name="Shape 2"/>
          <p:cNvSpPr/>
          <p:nvPr/>
        </p:nvSpPr>
        <p:spPr>
          <a:xfrm>
            <a:off x="640080" y="1645920"/>
            <a:ext cx="6309360" cy="749808"/>
          </a:xfrm>
          <a:prstGeom prst="roundRect">
            <a:avLst>
              <a:gd name="adj" fmla="val 7317"/>
            </a:avLst>
          </a:prstGeom>
          <a:solidFill>
            <a:srgbClr val="FFFFFF"/>
          </a:solidFill>
          <a:ln w="12700">
            <a:solidFill>
              <a:srgbClr val="DFE4E8"/>
            </a:solidFill>
            <a:prstDash val="solid"/>
          </a:ln>
        </p:spPr>
      </p:sp>
      <p:sp>
        <p:nvSpPr>
          <p:cNvPr id="5" name="Text 3"/>
          <p:cNvSpPr/>
          <p:nvPr/>
        </p:nvSpPr>
        <p:spPr>
          <a:xfrm>
            <a:off x="731520" y="1755648"/>
            <a:ext cx="457200" cy="502920"/>
          </a:xfrm>
          <a:prstGeom prst="rect">
            <a:avLst/>
          </a:prstGeom>
          <a:noFill/>
          <a:ln/>
        </p:spPr>
        <p:txBody>
          <a:bodyPr wrap="square" rtlCol="0" anchor="ctr"/>
          <a:lstStyle/>
          <a:p>
            <a:pPr indent="0" marL="0">
              <a:buNone/>
            </a:pPr>
            <a:r>
              <a:rPr lang="en-US" sz="2200" b="1" dirty="0">
                <a:solidFill>
                  <a:srgbClr val="18855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234440" y="1691640"/>
            <a:ext cx="5669280" cy="320040"/>
          </a:xfrm>
          <a:prstGeom prst="rect">
            <a:avLst/>
          </a:prstGeom>
          <a:noFill/>
          <a:ln/>
        </p:spPr>
        <p:txBody>
          <a:bodyPr wrap="square" rtlCol="0" anchor="ctr"/>
          <a:lstStyle/>
          <a:p>
            <a:pPr indent="0" marL="0">
              <a:buNone/>
            </a:pPr>
            <a:r>
              <a:rPr lang="en-US" sz="1050" b="1" dirty="0">
                <a:solidFill>
                  <a:srgbClr val="1B2430"/>
                </a:solidFill>
                <a:latin typeface="Courier New" pitchFamily="34" charset="0"/>
                <a:ea typeface="Courier New" pitchFamily="34" charset="-122"/>
                <a:cs typeface="Courier New" pitchFamily="34" charset="-120"/>
              </a:rPr>
              <a:t>python3 lumenc.py examples/valid.lum</a:t>
            </a:r>
            <a:endParaRPr lang="en-US" sz="1050" dirty="0"/>
          </a:p>
        </p:txBody>
      </p:sp>
      <p:sp>
        <p:nvSpPr>
          <p:cNvPr id="7" name="Text 5"/>
          <p:cNvSpPr/>
          <p:nvPr/>
        </p:nvSpPr>
        <p:spPr>
          <a:xfrm>
            <a:off x="1234440" y="2011680"/>
            <a:ext cx="5669280" cy="365760"/>
          </a:xfrm>
          <a:prstGeom prst="rect">
            <a:avLst/>
          </a:prstGeom>
          <a:noFill/>
          <a:ln/>
        </p:spPr>
        <p:txBody>
          <a:bodyPr wrap="square" rtlCol="0" anchor="t"/>
          <a:lstStyle/>
          <a:p>
            <a:pPr indent="0" marL="0">
              <a:buNone/>
            </a:pPr>
            <a:r>
              <a:rPr lang="en-US" sz="1050" dirty="0">
                <a:solidFill>
                  <a:srgbClr val="5B6472"/>
                </a:solidFill>
                <a:latin typeface="Calibri" pitchFamily="34" charset="0"/>
                <a:ea typeface="Calibri" pitchFamily="34" charset="-122"/>
                <a:cs typeface="Calibri" pitchFamily="34" charset="-120"/>
              </a:rPr>
              <a:t>A valid program compiles and runs.</a:t>
            </a:r>
            <a:endParaRPr lang="en-US" sz="1050" dirty="0"/>
          </a:p>
        </p:txBody>
      </p:sp>
      <p:sp>
        <p:nvSpPr>
          <p:cNvPr id="8" name="Shape 6"/>
          <p:cNvSpPr/>
          <p:nvPr/>
        </p:nvSpPr>
        <p:spPr>
          <a:xfrm>
            <a:off x="640080" y="2514600"/>
            <a:ext cx="6309360" cy="749808"/>
          </a:xfrm>
          <a:prstGeom prst="roundRect">
            <a:avLst>
              <a:gd name="adj" fmla="val 7317"/>
            </a:avLst>
          </a:prstGeom>
          <a:solidFill>
            <a:srgbClr val="FFFFFF"/>
          </a:solidFill>
          <a:ln w="12700">
            <a:solidFill>
              <a:srgbClr val="DFE4E8"/>
            </a:solidFill>
            <a:prstDash val="solid"/>
          </a:ln>
        </p:spPr>
      </p:sp>
      <p:sp>
        <p:nvSpPr>
          <p:cNvPr id="9" name="Text 7"/>
          <p:cNvSpPr/>
          <p:nvPr/>
        </p:nvSpPr>
        <p:spPr>
          <a:xfrm>
            <a:off x="731520" y="2624328"/>
            <a:ext cx="457200" cy="502920"/>
          </a:xfrm>
          <a:prstGeom prst="rect">
            <a:avLst/>
          </a:prstGeom>
          <a:noFill/>
          <a:ln/>
        </p:spPr>
        <p:txBody>
          <a:bodyPr wrap="square" rtlCol="0" anchor="ctr"/>
          <a:lstStyle/>
          <a:p>
            <a:pPr indent="0" marL="0">
              <a:buNone/>
            </a:pPr>
            <a:r>
              <a:rPr lang="en-US" sz="2200" b="1" dirty="0">
                <a:solidFill>
                  <a:srgbClr val="18855F"/>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1234440" y="2560320"/>
            <a:ext cx="5669280" cy="320040"/>
          </a:xfrm>
          <a:prstGeom prst="rect">
            <a:avLst/>
          </a:prstGeom>
          <a:noFill/>
          <a:ln/>
        </p:spPr>
        <p:txBody>
          <a:bodyPr wrap="square" rtlCol="0" anchor="ctr"/>
          <a:lstStyle/>
          <a:p>
            <a:pPr indent="0" marL="0">
              <a:buNone/>
            </a:pPr>
            <a:r>
              <a:rPr lang="en-US" sz="1050" b="1" dirty="0">
                <a:solidFill>
                  <a:srgbClr val="1B2430"/>
                </a:solidFill>
                <a:latin typeface="Courier New" pitchFamily="34" charset="0"/>
                <a:ea typeface="Courier New" pitchFamily="34" charset="-122"/>
                <a:cs typeface="Courier New" pitchFamily="34" charset="-120"/>
              </a:rPr>
              <a:t>python3 lumenc.py examples/demo.lum</a:t>
            </a:r>
            <a:endParaRPr lang="en-US" sz="1050" dirty="0"/>
          </a:p>
        </p:txBody>
      </p:sp>
      <p:sp>
        <p:nvSpPr>
          <p:cNvPr id="11" name="Text 9"/>
          <p:cNvSpPr/>
          <p:nvPr/>
        </p:nvSpPr>
        <p:spPr>
          <a:xfrm>
            <a:off x="1234440" y="2880360"/>
            <a:ext cx="5669280" cy="365760"/>
          </a:xfrm>
          <a:prstGeom prst="rect">
            <a:avLst/>
          </a:prstGeom>
          <a:noFill/>
          <a:ln/>
        </p:spPr>
        <p:txBody>
          <a:bodyPr wrap="square" rtlCol="0" anchor="t"/>
          <a:lstStyle/>
          <a:p>
            <a:pPr indent="0" marL="0">
              <a:buNone/>
            </a:pPr>
            <a:r>
              <a:rPr lang="en-US" sz="1050" dirty="0">
                <a:solidFill>
                  <a:srgbClr val="5B6472"/>
                </a:solidFill>
                <a:latin typeface="Calibri" pitchFamily="34" charset="0"/>
                <a:ea typeface="Calibri" pitchFamily="34" charset="-122"/>
                <a:cs typeface="Calibri" pitchFamily="34" charset="-120"/>
              </a:rPr>
              <a:t>Seven defects in one file: each gets one diagnostic with a caret and a repair; no cascade.</a:t>
            </a:r>
            <a:endParaRPr lang="en-US" sz="1050" dirty="0"/>
          </a:p>
        </p:txBody>
      </p:sp>
      <p:sp>
        <p:nvSpPr>
          <p:cNvPr id="12" name="Shape 10"/>
          <p:cNvSpPr/>
          <p:nvPr/>
        </p:nvSpPr>
        <p:spPr>
          <a:xfrm>
            <a:off x="640080" y="3383280"/>
            <a:ext cx="6309360" cy="749808"/>
          </a:xfrm>
          <a:prstGeom prst="roundRect">
            <a:avLst>
              <a:gd name="adj" fmla="val 7317"/>
            </a:avLst>
          </a:prstGeom>
          <a:solidFill>
            <a:srgbClr val="FFFFFF"/>
          </a:solidFill>
          <a:ln w="12700">
            <a:solidFill>
              <a:srgbClr val="DFE4E8"/>
            </a:solidFill>
            <a:prstDash val="solid"/>
          </a:ln>
        </p:spPr>
      </p:sp>
      <p:sp>
        <p:nvSpPr>
          <p:cNvPr id="13" name="Text 11"/>
          <p:cNvSpPr/>
          <p:nvPr/>
        </p:nvSpPr>
        <p:spPr>
          <a:xfrm>
            <a:off x="731520" y="3493008"/>
            <a:ext cx="457200" cy="502920"/>
          </a:xfrm>
          <a:prstGeom prst="rect">
            <a:avLst/>
          </a:prstGeom>
          <a:noFill/>
          <a:ln/>
        </p:spPr>
        <p:txBody>
          <a:bodyPr wrap="square" rtlCol="0" anchor="ctr"/>
          <a:lstStyle/>
          <a:p>
            <a:pPr indent="0" marL="0">
              <a:buNone/>
            </a:pPr>
            <a:r>
              <a:rPr lang="en-US" sz="2200" b="1" dirty="0">
                <a:solidFill>
                  <a:srgbClr val="18855F"/>
                </a:solidFill>
                <a:latin typeface="Cambria" pitchFamily="34" charset="0"/>
                <a:ea typeface="Cambria" pitchFamily="34" charset="-122"/>
                <a:cs typeface="Cambria" pitchFamily="34" charset="-120"/>
              </a:rPr>
              <a:t>3</a:t>
            </a:r>
            <a:endParaRPr lang="en-US" sz="2200" dirty="0"/>
          </a:p>
        </p:txBody>
      </p:sp>
      <p:sp>
        <p:nvSpPr>
          <p:cNvPr id="14" name="Text 12"/>
          <p:cNvSpPr/>
          <p:nvPr/>
        </p:nvSpPr>
        <p:spPr>
          <a:xfrm>
            <a:off x="1234440" y="3429000"/>
            <a:ext cx="5669280" cy="320040"/>
          </a:xfrm>
          <a:prstGeom prst="rect">
            <a:avLst/>
          </a:prstGeom>
          <a:noFill/>
          <a:ln/>
        </p:spPr>
        <p:txBody>
          <a:bodyPr wrap="square" rtlCol="0" anchor="ctr"/>
          <a:lstStyle/>
          <a:p>
            <a:pPr indent="0" marL="0">
              <a:buNone/>
            </a:pPr>
            <a:r>
              <a:rPr lang="en-US" sz="1050" b="1" dirty="0">
                <a:solidFill>
                  <a:srgbClr val="1B2430"/>
                </a:solidFill>
                <a:latin typeface="Courier New" pitchFamily="34" charset="0"/>
                <a:ea typeface="Courier New" pitchFamily="34" charset="-122"/>
                <a:cs typeface="Courier New" pitchFamily="34" charset="-120"/>
              </a:rPr>
              <a:t>python3 lumenc.py examples/typos.lum --fix --diff</a:t>
            </a:r>
            <a:endParaRPr lang="en-US" sz="1050" dirty="0"/>
          </a:p>
        </p:txBody>
      </p:sp>
      <p:sp>
        <p:nvSpPr>
          <p:cNvPr id="15" name="Text 13"/>
          <p:cNvSpPr/>
          <p:nvPr/>
        </p:nvSpPr>
        <p:spPr>
          <a:xfrm>
            <a:off x="1234440" y="3749040"/>
            <a:ext cx="5669280" cy="365760"/>
          </a:xfrm>
          <a:prstGeom prst="rect">
            <a:avLst/>
          </a:prstGeom>
          <a:noFill/>
          <a:ln/>
        </p:spPr>
        <p:txBody>
          <a:bodyPr wrap="square" rtlCol="0" anchor="t"/>
          <a:lstStyle/>
          <a:p>
            <a:pPr indent="0" marL="0">
              <a:buNone/>
            </a:pPr>
            <a:r>
              <a:rPr lang="en-US" sz="1050" dirty="0">
                <a:solidFill>
                  <a:srgbClr val="5B6472"/>
                </a:solidFill>
                <a:latin typeface="Calibri" pitchFamily="34" charset="0"/>
                <a:ea typeface="Calibri" pitchFamily="34" charset="-122"/>
                <a:cs typeface="Calibri" pitchFamily="34" charset="-120"/>
              </a:rPr>
              <a:t>Preview the safe repairs as a unified diff; nothing is written until --fix runs without --diff.</a:t>
            </a:r>
            <a:endParaRPr lang="en-US" sz="1050" dirty="0"/>
          </a:p>
        </p:txBody>
      </p:sp>
      <p:sp>
        <p:nvSpPr>
          <p:cNvPr id="16" name="Shape 14"/>
          <p:cNvSpPr/>
          <p:nvPr/>
        </p:nvSpPr>
        <p:spPr>
          <a:xfrm>
            <a:off x="640080" y="4251960"/>
            <a:ext cx="6309360" cy="749808"/>
          </a:xfrm>
          <a:prstGeom prst="roundRect">
            <a:avLst>
              <a:gd name="adj" fmla="val 7317"/>
            </a:avLst>
          </a:prstGeom>
          <a:solidFill>
            <a:srgbClr val="FFFFFF"/>
          </a:solidFill>
          <a:ln w="12700">
            <a:solidFill>
              <a:srgbClr val="DFE4E8"/>
            </a:solidFill>
            <a:prstDash val="solid"/>
          </a:ln>
        </p:spPr>
      </p:sp>
      <p:sp>
        <p:nvSpPr>
          <p:cNvPr id="17" name="Text 15"/>
          <p:cNvSpPr/>
          <p:nvPr/>
        </p:nvSpPr>
        <p:spPr>
          <a:xfrm>
            <a:off x="731520" y="4361688"/>
            <a:ext cx="457200" cy="502920"/>
          </a:xfrm>
          <a:prstGeom prst="rect">
            <a:avLst/>
          </a:prstGeom>
          <a:noFill/>
          <a:ln/>
        </p:spPr>
        <p:txBody>
          <a:bodyPr wrap="square" rtlCol="0" anchor="ctr"/>
          <a:lstStyle/>
          <a:p>
            <a:pPr indent="0" marL="0">
              <a:buNone/>
            </a:pPr>
            <a:r>
              <a:rPr lang="en-US" sz="2200" b="1" dirty="0">
                <a:solidFill>
                  <a:srgbClr val="18855F"/>
                </a:solidFill>
                <a:latin typeface="Cambria" pitchFamily="34" charset="0"/>
                <a:ea typeface="Cambria" pitchFamily="34" charset="-122"/>
                <a:cs typeface="Cambria" pitchFamily="34" charset="-120"/>
              </a:rPr>
              <a:t>4</a:t>
            </a:r>
            <a:endParaRPr lang="en-US" sz="2200" dirty="0"/>
          </a:p>
        </p:txBody>
      </p:sp>
      <p:sp>
        <p:nvSpPr>
          <p:cNvPr id="18" name="Text 16"/>
          <p:cNvSpPr/>
          <p:nvPr/>
        </p:nvSpPr>
        <p:spPr>
          <a:xfrm>
            <a:off x="1234440" y="4297680"/>
            <a:ext cx="5669280" cy="320040"/>
          </a:xfrm>
          <a:prstGeom prst="rect">
            <a:avLst/>
          </a:prstGeom>
          <a:noFill/>
          <a:ln/>
        </p:spPr>
        <p:txBody>
          <a:bodyPr wrap="square" rtlCol="0" anchor="ctr"/>
          <a:lstStyle/>
          <a:p>
            <a:pPr indent="0" marL="0">
              <a:buNone/>
            </a:pPr>
            <a:r>
              <a:rPr lang="en-US" sz="1050" b="1" dirty="0">
                <a:solidFill>
                  <a:srgbClr val="1B2430"/>
                </a:solidFill>
                <a:latin typeface="Courier New" pitchFamily="34" charset="0"/>
                <a:ea typeface="Courier New" pitchFamily="34" charset="-122"/>
                <a:cs typeface="Courier New" pitchFamily="34" charset="-120"/>
              </a:rPr>
              <a:t>python3 lumenc.py examples/runtime_error.lum</a:t>
            </a:r>
            <a:endParaRPr lang="en-US" sz="1050" dirty="0"/>
          </a:p>
        </p:txBody>
      </p:sp>
      <p:sp>
        <p:nvSpPr>
          <p:cNvPr id="19" name="Text 17"/>
          <p:cNvSpPr/>
          <p:nvPr/>
        </p:nvSpPr>
        <p:spPr>
          <a:xfrm>
            <a:off x="1234440" y="4617720"/>
            <a:ext cx="5669280" cy="365760"/>
          </a:xfrm>
          <a:prstGeom prst="rect">
            <a:avLst/>
          </a:prstGeom>
          <a:noFill/>
          <a:ln/>
        </p:spPr>
        <p:txBody>
          <a:bodyPr wrap="square" rtlCol="0" anchor="t"/>
          <a:lstStyle/>
          <a:p>
            <a:pPr indent="0" marL="0">
              <a:buNone/>
            </a:pPr>
            <a:r>
              <a:rPr lang="en-US" sz="1050" dirty="0">
                <a:solidFill>
                  <a:srgbClr val="5B6472"/>
                </a:solidFill>
                <a:latin typeface="Calibri" pitchFamily="34" charset="0"/>
                <a:ea typeface="Calibri" pitchFamily="34" charset="-122"/>
                <a:cs typeface="Calibri" pitchFamily="34" charset="-120"/>
              </a:rPr>
              <a:t>A run-time fault is reported with a caret and an R-code, not a silent 0.</a:t>
            </a:r>
            <a:endParaRPr lang="en-US" sz="1050" dirty="0"/>
          </a:p>
        </p:txBody>
      </p:sp>
      <p:sp>
        <p:nvSpPr>
          <p:cNvPr id="20" name="Text 18"/>
          <p:cNvSpPr/>
          <p:nvPr/>
        </p:nvSpPr>
        <p:spPr>
          <a:xfrm>
            <a:off x="640080" y="5212080"/>
            <a:ext cx="6309360" cy="548640"/>
          </a:xfrm>
          <a:prstGeom prst="rect">
            <a:avLst/>
          </a:prstGeom>
          <a:noFill/>
          <a:ln/>
        </p:spPr>
        <p:txBody>
          <a:bodyPr wrap="square" rtlCol="0" anchor="t"/>
          <a:lstStyle/>
          <a:p>
            <a:pPr indent="0" marL="0">
              <a:buNone/>
            </a:pPr>
            <a:r>
              <a:rPr lang="en-US" sz="1150" dirty="0">
                <a:solidFill>
                  <a:srgbClr val="1B2430"/>
                </a:solidFill>
                <a:latin typeface="Calibri" pitchFamily="34" charset="0"/>
                <a:ea typeface="Calibri" pitchFamily="34" charset="-122"/>
                <a:cs typeface="Calibri" pitchFamily="34" charset="-120"/>
              </a:rPr>
              <a:t>Extras if asked: -O --opt-stats, --emit-ssa, --explain E0412, --emit-tac, --grammar, --no-phrase-level (watch the cascade return).</a:t>
            </a:r>
            <a:endParaRPr lang="en-US" sz="1150" dirty="0"/>
          </a:p>
        </p:txBody>
      </p:sp>
      <p:sp>
        <p:nvSpPr>
          <p:cNvPr id="21" name="Text 19"/>
          <p:cNvSpPr/>
          <p:nvPr/>
        </p:nvSpPr>
        <p:spPr>
          <a:xfrm>
            <a:off x="640080" y="5760720"/>
            <a:ext cx="6309360" cy="320040"/>
          </a:xfrm>
          <a:prstGeom prst="rect">
            <a:avLst/>
          </a:prstGeom>
          <a:noFill/>
          <a:ln/>
        </p:spPr>
        <p:txBody>
          <a:bodyPr wrap="square"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Backup: recorded output is in docs/evidence if the live run fails.</a:t>
            </a:r>
            <a:endParaRPr lang="en-US" sz="1050" dirty="0"/>
          </a:p>
        </p:txBody>
      </p:sp>
      <p:sp>
        <p:nvSpPr>
          <p:cNvPr id="22" name="Shape 20"/>
          <p:cNvSpPr/>
          <p:nvPr/>
        </p:nvSpPr>
        <p:spPr>
          <a:xfrm>
            <a:off x="7223760" y="1645920"/>
            <a:ext cx="4297680" cy="4297680"/>
          </a:xfrm>
          <a:prstGeom prst="roundRect">
            <a:avLst>
              <a:gd name="adj" fmla="val 1277"/>
            </a:avLst>
          </a:prstGeom>
          <a:solidFill>
            <a:srgbClr val="1F2A38"/>
          </a:solidFill>
          <a:ln w="12700">
            <a:solidFill>
              <a:srgbClr val="2B3948"/>
            </a:solidFill>
            <a:prstDash val="solid"/>
          </a:ln>
        </p:spPr>
      </p:sp>
      <p:pic>
        <p:nvPicPr>
          <p:cNvPr id="23" name="Image 0" descr="/home/claude/lumen/docs/evidence/06_typos_and_repairs.png">    </p:cNvPr>
          <p:cNvPicPr>
            <a:picLocks noChangeAspect="1"/>
          </p:cNvPicPr>
          <p:nvPr/>
        </p:nvPicPr>
        <p:blipFill>
          <a:blip r:embed="rId1"/>
          <a:stretch>
            <a:fillRect/>
          </a:stretch>
        </p:blipFill>
        <p:spPr>
          <a:xfrm>
            <a:off x="7902442" y="1737360"/>
            <a:ext cx="2940316" cy="4114800"/>
          </a:xfrm>
          <a:prstGeom prst="rect">
            <a:avLst/>
          </a:prstGeom>
        </p:spPr>
      </p:pic>
      <p:sp>
        <p:nvSpPr>
          <p:cNvPr id="24" name="Text 21"/>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25" name="Text 2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9 OF 10 — DOCUMENTATION</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Quality of the project report: written for a reader, reproducible</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3474720"/>
                <a:gridCol w="7406640"/>
              </a:tblGrid>
              <a:tr h="42976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Document</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Contents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1B2430"/>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Final project report</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Introduction, architecture, language, features, recovery design, testing, evaluation, performance, limitations, appendix</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USER_GUIDE.md and README.md</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Install, every command-line option, exit codes, worked examples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docs/LANGUAGE.md</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Full language reference and grammar</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docs/ARCHITECTURE.md</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Pipeline, data structures, recovery layers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docs/ERROR_CODES.md</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All 52 error codes, each with a failing and a corrected example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docs/TEST_CASES.md and test_results.txt</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Every case with input and actual diagnostics; the full test run</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Bug log (docs/)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The 23 defects found by adversarial testing, with before and after</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docs/results/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Evaluation and performance results with charts, regenerated by one command each</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EEF2F1"/>
                    </a:solidFill>
                  </a:tcPr>
                </a:tc>
              </a:tr>
              <a:tr h="429768">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docs/evidence/</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Captured compiler output for 14 scenarios (rendered from real runs)</a:t>
                      </a:r>
                      <a:endParaRPr lang="en-US" sz="1150" dirty="0">
                        <a:latin typeface="Calibri" charset="0"/>
                        <a:ea typeface="Calibri" charset="0"/>
                        <a:cs typeface="Calibri" charset="0"/>
                      </a:endParaRPr>
                    </a:p>
                  </a:txBody>
                  <a:tcPr marL="73152" marR="73152" marT="27432" marB="27432" anchor="ctr">
                    <a:lnL w="6350" cap="flat" cmpd="sng" algn="ctr">
                      <a:solidFill>
                        <a:srgbClr val="DFE4E8"/>
                      </a:solidFill>
                      <a:prstDash val="solid"/>
                      <a:round/>
                      <a:headEnd type="none" w="med" len="med"/>
                      <a:tailEnd type="none" w="med" len="med"/>
                    </a:lnL>
                    <a:lnR w="6350" cap="flat" cmpd="sng" algn="ctr">
                      <a:solidFill>
                        <a:srgbClr val="DFE4E8"/>
                      </a:solidFill>
                      <a:prstDash val="solid"/>
                      <a:round/>
                      <a:headEnd type="none" w="med" len="med"/>
                      <a:tailEnd type="none" w="med" len="med"/>
                    </a:lnR>
                    <a:lnT w="6350" cap="flat" cmpd="sng" algn="ctr">
                      <a:solidFill>
                        <a:srgbClr val="DFE4E8"/>
                      </a:solidFill>
                      <a:prstDash val="solid"/>
                      <a:round/>
                      <a:headEnd type="none" w="med" len="med"/>
                      <a:tailEnd type="none" w="med" len="med"/>
                    </a:lnT>
                    <a:lnB w="6350" cap="flat" cmpd="sng" algn="ctr">
                      <a:solidFill>
                        <a:srgbClr val="DFE4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6" name="Text 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34D399"/>
                </a:solidFill>
                <a:latin typeface="Calibri" pitchFamily="34" charset="0"/>
                <a:ea typeface="Calibri" pitchFamily="34" charset="-122"/>
                <a:cs typeface="Calibri" pitchFamily="34" charset="-120"/>
              </a:rPr>
              <a:t>CRITERION 10 OF 10 — VIVA: QUESTIONS I SHOULD BE ABLE TO ANSWER</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Individual technical understanding</a:t>
            </a:r>
            <a:endParaRPr lang="en-US" sz="2800" dirty="0"/>
          </a:p>
        </p:txBody>
      </p:sp>
      <p:sp>
        <p:nvSpPr>
          <p:cNvPr id="4" name="Shape 2"/>
          <p:cNvSpPr/>
          <p:nvPr/>
        </p:nvSpPr>
        <p:spPr>
          <a:xfrm>
            <a:off x="640080" y="1600200"/>
            <a:ext cx="10881360" cy="841248"/>
          </a:xfrm>
          <a:prstGeom prst="roundRect">
            <a:avLst>
              <a:gd name="adj" fmla="val 6522"/>
            </a:avLst>
          </a:prstGeom>
          <a:solidFill>
            <a:srgbClr val="1F2A38"/>
          </a:solidFill>
          <a:ln w="12700">
            <a:solidFill>
              <a:srgbClr val="2B3948"/>
            </a:solidFill>
            <a:prstDash val="solid"/>
          </a:ln>
        </p:spPr>
      </p:sp>
      <p:sp>
        <p:nvSpPr>
          <p:cNvPr id="5" name="Text 3"/>
          <p:cNvSpPr/>
          <p:nvPr/>
        </p:nvSpPr>
        <p:spPr>
          <a:xfrm>
            <a:off x="822960" y="1645920"/>
            <a:ext cx="10515600" cy="292608"/>
          </a:xfrm>
          <a:prstGeom prst="rect">
            <a:avLst/>
          </a:prstGeom>
          <a:noFill/>
          <a:ln/>
        </p:spPr>
        <p:txBody>
          <a:bodyPr wrap="square" rtlCol="0" anchor="ctr"/>
          <a:lstStyle/>
          <a:p>
            <a:pPr indent="0" marL="0">
              <a:buNone/>
            </a:pPr>
            <a:r>
              <a:rPr lang="en-US" sz="1250" b="1" dirty="0">
                <a:solidFill>
                  <a:srgbClr val="34D399"/>
                </a:solidFill>
                <a:latin typeface="Calibri" pitchFamily="34" charset="0"/>
                <a:ea typeface="Calibri" pitchFamily="34" charset="-122"/>
                <a:cs typeface="Calibri" pitchFamily="34" charset="-120"/>
              </a:rPr>
              <a:t>Why is the grammar LL(1), and how do you know?</a:t>
            </a:r>
            <a:endParaRPr lang="en-US" sz="1250" dirty="0"/>
          </a:p>
        </p:txBody>
      </p:sp>
      <p:sp>
        <p:nvSpPr>
          <p:cNvPr id="6" name="Text 4"/>
          <p:cNvSpPr/>
          <p:nvPr/>
        </p:nvSpPr>
        <p:spPr>
          <a:xfrm>
            <a:off x="822960" y="1947672"/>
            <a:ext cx="10515600" cy="457200"/>
          </a:xfrm>
          <a:prstGeom prst="rect">
            <a:avLst/>
          </a:prstGeom>
          <a:noFill/>
          <a:ln/>
        </p:spPr>
        <p:txBody>
          <a:bodyPr wrap="square" rtlCol="0" anchor="t"/>
          <a:lstStyle/>
          <a:p>
            <a:pPr indent="0" marL="0">
              <a:buNone/>
            </a:pPr>
            <a:r>
              <a:rPr lang="en-US" sz="1100" dirty="0">
                <a:solidFill>
                  <a:srgbClr val="AEB8C4"/>
                </a:solidFill>
                <a:latin typeface="Calibri" pitchFamily="34" charset="0"/>
                <a:ea typeface="Calibri" pitchFamily="34" charset="-122"/>
                <a:cs typeface="Calibri" pitchFamily="34" charset="-120"/>
              </a:rPr>
              <a:t>Predict sets for each production are disjoint; grammar.py computes nullable, FIRST and FOLLOW and a test checks for conflicts (there are none).</a:t>
            </a:r>
            <a:endParaRPr lang="en-US" sz="1100" dirty="0"/>
          </a:p>
        </p:txBody>
      </p:sp>
      <p:sp>
        <p:nvSpPr>
          <p:cNvPr id="7" name="Shape 5"/>
          <p:cNvSpPr/>
          <p:nvPr/>
        </p:nvSpPr>
        <p:spPr>
          <a:xfrm>
            <a:off x="640080" y="2532888"/>
            <a:ext cx="10881360" cy="841248"/>
          </a:xfrm>
          <a:prstGeom prst="roundRect">
            <a:avLst>
              <a:gd name="adj" fmla="val 6522"/>
            </a:avLst>
          </a:prstGeom>
          <a:solidFill>
            <a:srgbClr val="1F2A38"/>
          </a:solidFill>
          <a:ln w="12700">
            <a:solidFill>
              <a:srgbClr val="2B3948"/>
            </a:solidFill>
            <a:prstDash val="solid"/>
          </a:ln>
        </p:spPr>
      </p:sp>
      <p:sp>
        <p:nvSpPr>
          <p:cNvPr id="8" name="Text 6"/>
          <p:cNvSpPr/>
          <p:nvPr/>
        </p:nvSpPr>
        <p:spPr>
          <a:xfrm>
            <a:off x="822960" y="2578608"/>
            <a:ext cx="10515600" cy="292608"/>
          </a:xfrm>
          <a:prstGeom prst="rect">
            <a:avLst/>
          </a:prstGeom>
          <a:noFill/>
          <a:ln/>
        </p:spPr>
        <p:txBody>
          <a:bodyPr wrap="square" rtlCol="0" anchor="ctr"/>
          <a:lstStyle/>
          <a:p>
            <a:pPr indent="0" marL="0">
              <a:buNone/>
            </a:pPr>
            <a:r>
              <a:rPr lang="en-US" sz="1250" b="1" dirty="0">
                <a:solidFill>
                  <a:srgbClr val="34D399"/>
                </a:solidFill>
                <a:latin typeface="Calibri" pitchFamily="34" charset="0"/>
                <a:ea typeface="Calibri" pitchFamily="34" charset="-122"/>
                <a:cs typeface="Calibri" pitchFamily="34" charset="-120"/>
              </a:rPr>
              <a:t>What is panic mode and how does Lumen resynchronise?</a:t>
            </a:r>
            <a:endParaRPr lang="en-US" sz="1250" dirty="0"/>
          </a:p>
        </p:txBody>
      </p:sp>
      <p:sp>
        <p:nvSpPr>
          <p:cNvPr id="9" name="Text 7"/>
          <p:cNvSpPr/>
          <p:nvPr/>
        </p:nvSpPr>
        <p:spPr>
          <a:xfrm>
            <a:off x="822960" y="2880360"/>
            <a:ext cx="10515600" cy="457200"/>
          </a:xfrm>
          <a:prstGeom prst="rect">
            <a:avLst/>
          </a:prstGeom>
          <a:noFill/>
          <a:ln/>
        </p:spPr>
        <p:txBody>
          <a:bodyPr wrap="square" rtlCol="0" anchor="t"/>
          <a:lstStyle/>
          <a:p>
            <a:pPr indent="0" marL="0">
              <a:buNone/>
            </a:pPr>
            <a:r>
              <a:rPr lang="en-US" sz="1100" dirty="0">
                <a:solidFill>
                  <a:srgbClr val="AEB8C4"/>
                </a:solidFill>
                <a:latin typeface="Calibri" pitchFamily="34" charset="0"/>
                <a:ea typeface="Calibri" pitchFamily="34" charset="-122"/>
                <a:cs typeface="Calibri" pitchFamily="34" charset="-120"/>
              </a:rPr>
              <a:t>After an error, skip tokens until one in the sync set: FIRST(statement) minus IDENT and {, plus ; and }. The set is derived from the grammar.</a:t>
            </a:r>
            <a:endParaRPr lang="en-US" sz="1100" dirty="0"/>
          </a:p>
        </p:txBody>
      </p:sp>
      <p:sp>
        <p:nvSpPr>
          <p:cNvPr id="10" name="Shape 8"/>
          <p:cNvSpPr/>
          <p:nvPr/>
        </p:nvSpPr>
        <p:spPr>
          <a:xfrm>
            <a:off x="640080" y="3465576"/>
            <a:ext cx="10881360" cy="841248"/>
          </a:xfrm>
          <a:prstGeom prst="roundRect">
            <a:avLst>
              <a:gd name="adj" fmla="val 6522"/>
            </a:avLst>
          </a:prstGeom>
          <a:solidFill>
            <a:srgbClr val="1F2A38"/>
          </a:solidFill>
          <a:ln w="12700">
            <a:solidFill>
              <a:srgbClr val="2B3948"/>
            </a:solidFill>
            <a:prstDash val="solid"/>
          </a:ln>
        </p:spPr>
      </p:sp>
      <p:sp>
        <p:nvSpPr>
          <p:cNvPr id="11" name="Text 9"/>
          <p:cNvSpPr/>
          <p:nvPr/>
        </p:nvSpPr>
        <p:spPr>
          <a:xfrm>
            <a:off x="822960" y="3511296"/>
            <a:ext cx="10515600" cy="292608"/>
          </a:xfrm>
          <a:prstGeom prst="rect">
            <a:avLst/>
          </a:prstGeom>
          <a:noFill/>
          <a:ln/>
        </p:spPr>
        <p:txBody>
          <a:bodyPr wrap="square" rtlCol="0" anchor="ctr"/>
          <a:lstStyle/>
          <a:p>
            <a:pPr indent="0" marL="0">
              <a:buNone/>
            </a:pPr>
            <a:r>
              <a:rPr lang="en-US" sz="1250" b="1" dirty="0">
                <a:solidFill>
                  <a:srgbClr val="34D399"/>
                </a:solidFill>
                <a:latin typeface="Calibri" pitchFamily="34" charset="0"/>
                <a:ea typeface="Calibri" pitchFamily="34" charset="-122"/>
                <a:cs typeface="Calibri" pitchFamily="34" charset="-120"/>
              </a:rPr>
              <a:t>What is error-type poisoning?</a:t>
            </a:r>
            <a:endParaRPr lang="en-US" sz="1250" dirty="0"/>
          </a:p>
        </p:txBody>
      </p:sp>
      <p:sp>
        <p:nvSpPr>
          <p:cNvPr id="12" name="Text 10"/>
          <p:cNvSpPr/>
          <p:nvPr/>
        </p:nvSpPr>
        <p:spPr>
          <a:xfrm>
            <a:off x="822960" y="3813048"/>
            <a:ext cx="10515600" cy="457200"/>
          </a:xfrm>
          <a:prstGeom prst="rect">
            <a:avLst/>
          </a:prstGeom>
          <a:noFill/>
          <a:ln/>
        </p:spPr>
        <p:txBody>
          <a:bodyPr wrap="square" rtlCol="0" anchor="t"/>
          <a:lstStyle/>
          <a:p>
            <a:pPr indent="0" marL="0">
              <a:buNone/>
            </a:pPr>
            <a:r>
              <a:rPr lang="en-US" sz="1100" dirty="0">
                <a:solidFill>
                  <a:srgbClr val="AEB8C4"/>
                </a:solidFill>
                <a:latin typeface="Calibri" pitchFamily="34" charset="0"/>
                <a:ea typeface="Calibri" pitchFamily="34" charset="-122"/>
                <a:cs typeface="Calibri" pitchFamily="34" charset="-120"/>
              </a:rPr>
              <a:t>A failed expression gets type ERROR; any operation on ERROR yields ERROR silently, so one bad name is reported once, not at every use.</a:t>
            </a:r>
            <a:endParaRPr lang="en-US" sz="1100" dirty="0"/>
          </a:p>
        </p:txBody>
      </p:sp>
      <p:sp>
        <p:nvSpPr>
          <p:cNvPr id="13" name="Shape 11"/>
          <p:cNvSpPr/>
          <p:nvPr/>
        </p:nvSpPr>
        <p:spPr>
          <a:xfrm>
            <a:off x="640080" y="4398264"/>
            <a:ext cx="10881360" cy="841248"/>
          </a:xfrm>
          <a:prstGeom prst="roundRect">
            <a:avLst>
              <a:gd name="adj" fmla="val 6522"/>
            </a:avLst>
          </a:prstGeom>
          <a:solidFill>
            <a:srgbClr val="1F2A38"/>
          </a:solidFill>
          <a:ln w="12700">
            <a:solidFill>
              <a:srgbClr val="2B3948"/>
            </a:solidFill>
            <a:prstDash val="solid"/>
          </a:ln>
        </p:spPr>
      </p:sp>
      <p:sp>
        <p:nvSpPr>
          <p:cNvPr id="14" name="Text 12"/>
          <p:cNvSpPr/>
          <p:nvPr/>
        </p:nvSpPr>
        <p:spPr>
          <a:xfrm>
            <a:off x="822960" y="4443984"/>
            <a:ext cx="10515600" cy="292608"/>
          </a:xfrm>
          <a:prstGeom prst="rect">
            <a:avLst/>
          </a:prstGeom>
          <a:noFill/>
          <a:ln/>
        </p:spPr>
        <p:txBody>
          <a:bodyPr wrap="square" rtlCol="0" anchor="ctr"/>
          <a:lstStyle/>
          <a:p>
            <a:pPr indent="0" marL="0">
              <a:buNone/>
            </a:pPr>
            <a:r>
              <a:rPr lang="en-US" sz="1250" b="1" dirty="0">
                <a:solidFill>
                  <a:srgbClr val="34D399"/>
                </a:solidFill>
                <a:latin typeface="Calibri" pitchFamily="34" charset="0"/>
                <a:ea typeface="Calibri" pitchFamily="34" charset="-122"/>
                <a:cs typeface="Calibri" pitchFamily="34" charset="-120"/>
              </a:rPr>
              <a:t>What is SSA, and how do you know the optimiser is safe?</a:t>
            </a:r>
            <a:endParaRPr lang="en-US" sz="1250" dirty="0"/>
          </a:p>
        </p:txBody>
      </p:sp>
      <p:sp>
        <p:nvSpPr>
          <p:cNvPr id="15" name="Text 13"/>
          <p:cNvSpPr/>
          <p:nvPr/>
        </p:nvSpPr>
        <p:spPr>
          <a:xfrm>
            <a:off x="822960" y="4745736"/>
            <a:ext cx="10515600" cy="457200"/>
          </a:xfrm>
          <a:prstGeom prst="rect">
            <a:avLst/>
          </a:prstGeom>
          <a:noFill/>
          <a:ln/>
        </p:spPr>
        <p:txBody>
          <a:bodyPr wrap="square" rtlCol="0" anchor="t"/>
          <a:lstStyle/>
          <a:p>
            <a:pPr indent="0" marL="0">
              <a:buNone/>
            </a:pPr>
            <a:r>
              <a:rPr lang="en-US" sz="1100" dirty="0">
                <a:solidFill>
                  <a:srgbClr val="AEB8C4"/>
                </a:solidFill>
                <a:latin typeface="Calibri" pitchFamily="34" charset="0"/>
                <a:ea typeface="Calibri" pitchFamily="34" charset="-122"/>
                <a:cs typeface="Calibri" pitchFamily="34" charset="-120"/>
              </a:rPr>
              <a:t>Each variable is assigned once and phi functions merge values at joins, so constants and common expressions are easy to track. Anything that can trap is never folded or deleted, and 5,000 random programs run identically optimised and not.</a:t>
            </a:r>
            <a:endParaRPr lang="en-US" sz="1100" dirty="0"/>
          </a:p>
        </p:txBody>
      </p:sp>
      <p:sp>
        <p:nvSpPr>
          <p:cNvPr id="16" name="Shape 14"/>
          <p:cNvSpPr/>
          <p:nvPr/>
        </p:nvSpPr>
        <p:spPr>
          <a:xfrm>
            <a:off x="640080" y="5330952"/>
            <a:ext cx="10881360" cy="841248"/>
          </a:xfrm>
          <a:prstGeom prst="roundRect">
            <a:avLst>
              <a:gd name="adj" fmla="val 6522"/>
            </a:avLst>
          </a:prstGeom>
          <a:solidFill>
            <a:srgbClr val="1F2A38"/>
          </a:solidFill>
          <a:ln w="12700">
            <a:solidFill>
              <a:srgbClr val="2B3948"/>
            </a:solidFill>
            <a:prstDash val="solid"/>
          </a:ln>
        </p:spPr>
      </p:sp>
      <p:sp>
        <p:nvSpPr>
          <p:cNvPr id="17" name="Text 15"/>
          <p:cNvSpPr/>
          <p:nvPr/>
        </p:nvSpPr>
        <p:spPr>
          <a:xfrm>
            <a:off x="822960" y="5376672"/>
            <a:ext cx="10515600" cy="292608"/>
          </a:xfrm>
          <a:prstGeom prst="rect">
            <a:avLst/>
          </a:prstGeom>
          <a:noFill/>
          <a:ln/>
        </p:spPr>
        <p:txBody>
          <a:bodyPr wrap="square" rtlCol="0" anchor="ctr"/>
          <a:lstStyle/>
          <a:p>
            <a:pPr indent="0" marL="0">
              <a:buNone/>
            </a:pPr>
            <a:r>
              <a:rPr lang="en-US" sz="1250" b="1" dirty="0">
                <a:solidFill>
                  <a:srgbClr val="34D399"/>
                </a:solidFill>
                <a:latin typeface="Calibri" pitchFamily="34" charset="0"/>
                <a:ea typeface="Calibri" pitchFamily="34" charset="-122"/>
                <a:cs typeface="Calibri" pitchFamily="34" charset="-120"/>
              </a:rPr>
              <a:t>Why is --fix conservative?</a:t>
            </a:r>
            <a:endParaRPr lang="en-US" sz="1250" dirty="0"/>
          </a:p>
        </p:txBody>
      </p:sp>
      <p:sp>
        <p:nvSpPr>
          <p:cNvPr id="18" name="Text 16"/>
          <p:cNvSpPr/>
          <p:nvPr/>
        </p:nvSpPr>
        <p:spPr>
          <a:xfrm>
            <a:off x="822960" y="5678424"/>
            <a:ext cx="10515600" cy="457200"/>
          </a:xfrm>
          <a:prstGeom prst="rect">
            <a:avLst/>
          </a:prstGeom>
          <a:noFill/>
          <a:ln/>
        </p:spPr>
        <p:txBody>
          <a:bodyPr wrap="square" rtlCol="0" anchor="t"/>
          <a:lstStyle/>
          <a:p>
            <a:pPr indent="0" marL="0">
              <a:buNone/>
            </a:pPr>
            <a:r>
              <a:rPr lang="en-US" sz="1100" dirty="0">
                <a:solidFill>
                  <a:srgbClr val="AEB8C4"/>
                </a:solidFill>
                <a:latin typeface="Calibri" pitchFamily="34" charset="0"/>
                <a:ea typeface="Calibri" pitchFamily="34" charset="-122"/>
                <a:cs typeface="Calibri" pitchFamily="34" charset="-120"/>
              </a:rPr>
              <a:t>Only unique, distance-1, at-least-4-letter repairs are machine-applicable. Guesses were wrong 18.8% of the time when applied.</a:t>
            </a:r>
            <a:endParaRPr lang="en-US" sz="1100" dirty="0"/>
          </a:p>
        </p:txBody>
      </p:sp>
      <p:sp>
        <p:nvSpPr>
          <p:cNvPr id="19" name="Text 17"/>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AEB8C4"/>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20" name="Text 1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AEB8C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457200"/>
            <a:ext cx="10881360" cy="292608"/>
          </a:xfrm>
          <a:prstGeom prst="rect">
            <a:avLst/>
          </a:prstGeom>
          <a:noFill/>
          <a:ln/>
        </p:spPr>
        <p:txBody>
          <a:bodyPr wrap="square" rtlCol="0" anchor="ctr"/>
          <a:lstStyle/>
          <a:p>
            <a:pPr indent="0" marL="0">
              <a:buNone/>
            </a:pPr>
            <a:r>
              <a:rPr lang="en-US" sz="1200" b="1" spc="200" kern="0" dirty="0">
                <a:solidFill>
                  <a:srgbClr val="18855F"/>
                </a:solidFill>
                <a:latin typeface="Calibri" pitchFamily="34" charset="0"/>
                <a:ea typeface="Calibri" pitchFamily="34" charset="-122"/>
                <a:cs typeface="Calibri" pitchFamily="34" charset="-120"/>
              </a:rPr>
              <a:t>CRITERION 10 OF 10 — VIVA: HARD QUESTIONS AND HONEST ANSWERS</a:t>
            </a:r>
            <a:endParaRPr lang="en-US" sz="1200" dirty="0"/>
          </a:p>
        </p:txBody>
      </p:sp>
      <p:sp>
        <p:nvSpPr>
          <p:cNvPr id="3" name="Text 1"/>
          <p:cNvSpPr/>
          <p:nvPr/>
        </p:nvSpPr>
        <p:spPr>
          <a:xfrm>
            <a:off x="640080" y="777240"/>
            <a:ext cx="10881360" cy="685800"/>
          </a:xfrm>
          <a:prstGeom prst="rect">
            <a:avLst/>
          </a:prstGeom>
          <a:noFill/>
          <a:ln/>
        </p:spPr>
        <p:txBody>
          <a:bodyPr wrap="square" rtlCol="0" anchor="t"/>
          <a:lstStyle/>
          <a:p>
            <a:pPr indent="0" marL="0">
              <a:buNone/>
            </a:pPr>
            <a:r>
              <a:rPr lang="en-US" sz="2800" b="1" dirty="0">
                <a:solidFill>
                  <a:srgbClr val="1B2430"/>
                </a:solidFill>
                <a:latin typeface="Cambria" pitchFamily="34" charset="0"/>
                <a:ea typeface="Cambria" pitchFamily="34" charset="-122"/>
                <a:cs typeface="Cambria" pitchFamily="34" charset="-120"/>
              </a:rPr>
              <a:t>What the numbers do not show</a:t>
            </a:r>
            <a:endParaRPr lang="en-US" sz="2800" dirty="0"/>
          </a:p>
        </p:txBody>
      </p:sp>
      <p:sp>
        <p:nvSpPr>
          <p:cNvPr id="4" name="Shape 2"/>
          <p:cNvSpPr/>
          <p:nvPr/>
        </p:nvSpPr>
        <p:spPr>
          <a:xfrm>
            <a:off x="640080" y="1600200"/>
            <a:ext cx="10881360" cy="841248"/>
          </a:xfrm>
          <a:prstGeom prst="roundRect">
            <a:avLst>
              <a:gd name="adj" fmla="val 6522"/>
            </a:avLst>
          </a:prstGeom>
          <a:solidFill>
            <a:srgbClr val="FFFFFF"/>
          </a:solidFill>
          <a:ln w="12700">
            <a:solidFill>
              <a:srgbClr val="DFE4E8"/>
            </a:solidFill>
            <a:prstDash val="solid"/>
          </a:ln>
        </p:spPr>
      </p:sp>
      <p:sp>
        <p:nvSpPr>
          <p:cNvPr id="5" name="Text 3"/>
          <p:cNvSpPr/>
          <p:nvPr/>
        </p:nvSpPr>
        <p:spPr>
          <a:xfrm>
            <a:off x="822960" y="1645920"/>
            <a:ext cx="10515600" cy="292608"/>
          </a:xfrm>
          <a:prstGeom prst="rect">
            <a:avLst/>
          </a:prstGeom>
          <a:noFill/>
          <a:ln/>
        </p:spPr>
        <p:txBody>
          <a:bodyPr wrap="square" rtlCol="0" anchor="ctr"/>
          <a:lstStyle/>
          <a:p>
            <a:pPr indent="0" marL="0">
              <a:buNone/>
            </a:pPr>
            <a:r>
              <a:rPr lang="en-US" sz="1250" b="1" dirty="0">
                <a:solidFill>
                  <a:srgbClr val="18855F"/>
                </a:solidFill>
                <a:latin typeface="Calibri" pitchFamily="34" charset="0"/>
                <a:ea typeface="Calibri" pitchFamily="34" charset="-122"/>
                <a:cs typeface="Calibri" pitchFamily="34" charset="-120"/>
              </a:rPr>
              <a:t>Are the 98.9% numbers realistic?</a:t>
            </a:r>
            <a:endParaRPr lang="en-US" sz="1250" dirty="0"/>
          </a:p>
        </p:txBody>
      </p:sp>
      <p:sp>
        <p:nvSpPr>
          <p:cNvPr id="6" name="Text 4"/>
          <p:cNvSpPr/>
          <p:nvPr/>
        </p:nvSpPr>
        <p:spPr>
          <a:xfrm>
            <a:off x="822960" y="1947672"/>
            <a:ext cx="10515600" cy="457200"/>
          </a:xfrm>
          <a:prstGeom prst="rect">
            <a:avLst/>
          </a:prstGeom>
          <a:noFill/>
          <a:ln/>
        </p:spPr>
        <p:txBody>
          <a:bodyPr wrap="square" rtlCol="0" anchor="t"/>
          <a:lstStyle/>
          <a:p>
            <a:pPr indent="0" marL="0">
              <a:buNone/>
            </a:pPr>
            <a:r>
              <a:rPr lang="en-US" sz="1100" dirty="0">
                <a:solidFill>
                  <a:srgbClr val="1B2430"/>
                </a:solidFill>
                <a:latin typeface="Calibri" pitchFamily="34" charset="0"/>
                <a:ea typeface="Calibri" pitchFamily="34" charset="-122"/>
                <a:cs typeface="Calibri" pitchFamily="34" charset="-120"/>
              </a:rPr>
              <a:t>They are on synthetic mutants of 12 programs. Held-out data guards against overfitting the tuning corpus but shares the base programs. Random token damage is harder: 72% clean.</a:t>
            </a:r>
            <a:endParaRPr lang="en-US" sz="1100" dirty="0"/>
          </a:p>
        </p:txBody>
      </p:sp>
      <p:sp>
        <p:nvSpPr>
          <p:cNvPr id="7" name="Shape 5"/>
          <p:cNvSpPr/>
          <p:nvPr/>
        </p:nvSpPr>
        <p:spPr>
          <a:xfrm>
            <a:off x="640080" y="2532888"/>
            <a:ext cx="10881360" cy="841248"/>
          </a:xfrm>
          <a:prstGeom prst="roundRect">
            <a:avLst>
              <a:gd name="adj" fmla="val 6522"/>
            </a:avLst>
          </a:prstGeom>
          <a:solidFill>
            <a:srgbClr val="FFFFFF"/>
          </a:solidFill>
          <a:ln w="12700">
            <a:solidFill>
              <a:srgbClr val="DFE4E8"/>
            </a:solidFill>
            <a:prstDash val="solid"/>
          </a:ln>
        </p:spPr>
      </p:sp>
      <p:sp>
        <p:nvSpPr>
          <p:cNvPr id="8" name="Text 6"/>
          <p:cNvSpPr/>
          <p:nvPr/>
        </p:nvSpPr>
        <p:spPr>
          <a:xfrm>
            <a:off x="822960" y="2578608"/>
            <a:ext cx="10515600" cy="292608"/>
          </a:xfrm>
          <a:prstGeom prst="rect">
            <a:avLst/>
          </a:prstGeom>
          <a:noFill/>
          <a:ln/>
        </p:spPr>
        <p:txBody>
          <a:bodyPr wrap="square" rtlCol="0" anchor="ctr"/>
          <a:lstStyle/>
          <a:p>
            <a:pPr indent="0" marL="0">
              <a:buNone/>
            </a:pPr>
            <a:r>
              <a:rPr lang="en-US" sz="1250" b="1" dirty="0">
                <a:solidFill>
                  <a:srgbClr val="18855F"/>
                </a:solidFill>
                <a:latin typeface="Calibri" pitchFamily="34" charset="0"/>
                <a:ea typeface="Calibri" pitchFamily="34" charset="-122"/>
                <a:cs typeface="Calibri" pitchFamily="34" charset="-120"/>
              </a:rPr>
              <a:t>Which layers did not help?</a:t>
            </a:r>
            <a:endParaRPr lang="en-US" sz="1250" dirty="0"/>
          </a:p>
        </p:txBody>
      </p:sp>
      <p:sp>
        <p:nvSpPr>
          <p:cNvPr id="9" name="Text 7"/>
          <p:cNvSpPr/>
          <p:nvPr/>
        </p:nvSpPr>
        <p:spPr>
          <a:xfrm>
            <a:off x="822960" y="2880360"/>
            <a:ext cx="10515600" cy="457200"/>
          </a:xfrm>
          <a:prstGeom prst="rect">
            <a:avLst/>
          </a:prstGeom>
          <a:noFill/>
          <a:ln/>
        </p:spPr>
        <p:txBody>
          <a:bodyPr wrap="square" rtlCol="0" anchor="t"/>
          <a:lstStyle/>
          <a:p>
            <a:pPr indent="0" marL="0">
              <a:buNone/>
            </a:pPr>
            <a:r>
              <a:rPr lang="en-US" sz="1100" dirty="0">
                <a:solidFill>
                  <a:srgbClr val="1B2430"/>
                </a:solidFill>
                <a:latin typeface="Calibri" pitchFamily="34" charset="0"/>
                <a:ea typeface="Calibri" pitchFamily="34" charset="-122"/>
                <a:cs typeface="Calibri" pitchFamily="34" charset="-120"/>
              </a:rPr>
              <a:t>Containment suppression and the variable-poisoning policy showed no measurable effect; FIRST/FOLLOW sync and lost-declaration inference were within one mutant. They are kept because they are cheap and unit tested.</a:t>
            </a:r>
            <a:endParaRPr lang="en-US" sz="1100" dirty="0"/>
          </a:p>
        </p:txBody>
      </p:sp>
      <p:sp>
        <p:nvSpPr>
          <p:cNvPr id="10" name="Shape 8"/>
          <p:cNvSpPr/>
          <p:nvPr/>
        </p:nvSpPr>
        <p:spPr>
          <a:xfrm>
            <a:off x="640080" y="3465576"/>
            <a:ext cx="10881360" cy="841248"/>
          </a:xfrm>
          <a:prstGeom prst="roundRect">
            <a:avLst>
              <a:gd name="adj" fmla="val 6522"/>
            </a:avLst>
          </a:prstGeom>
          <a:solidFill>
            <a:srgbClr val="FFFFFF"/>
          </a:solidFill>
          <a:ln w="12700">
            <a:solidFill>
              <a:srgbClr val="DFE4E8"/>
            </a:solidFill>
            <a:prstDash val="solid"/>
          </a:ln>
        </p:spPr>
      </p:sp>
      <p:sp>
        <p:nvSpPr>
          <p:cNvPr id="11" name="Text 9"/>
          <p:cNvSpPr/>
          <p:nvPr/>
        </p:nvSpPr>
        <p:spPr>
          <a:xfrm>
            <a:off x="822960" y="3511296"/>
            <a:ext cx="10515600" cy="292608"/>
          </a:xfrm>
          <a:prstGeom prst="rect">
            <a:avLst/>
          </a:prstGeom>
          <a:noFill/>
          <a:ln/>
        </p:spPr>
        <p:txBody>
          <a:bodyPr wrap="square" rtlCol="0" anchor="ctr"/>
          <a:lstStyle/>
          <a:p>
            <a:pPr indent="0" marL="0">
              <a:buNone/>
            </a:pPr>
            <a:r>
              <a:rPr lang="en-US" sz="1250" b="1" dirty="0">
                <a:solidFill>
                  <a:srgbClr val="18855F"/>
                </a:solidFill>
                <a:latin typeface="Calibri" pitchFamily="34" charset="0"/>
                <a:ea typeface="Calibri" pitchFamily="34" charset="-122"/>
                <a:cs typeface="Calibri" pitchFamily="34" charset="-120"/>
              </a:rPr>
              <a:t>How fast is it?</a:t>
            </a:r>
            <a:endParaRPr lang="en-US" sz="1250" dirty="0"/>
          </a:p>
        </p:txBody>
      </p:sp>
      <p:sp>
        <p:nvSpPr>
          <p:cNvPr id="12" name="Text 10"/>
          <p:cNvSpPr/>
          <p:nvPr/>
        </p:nvSpPr>
        <p:spPr>
          <a:xfrm>
            <a:off x="822960" y="3813048"/>
            <a:ext cx="10515600" cy="457200"/>
          </a:xfrm>
          <a:prstGeom prst="rect">
            <a:avLst/>
          </a:prstGeom>
          <a:noFill/>
          <a:ln/>
        </p:spPr>
        <p:txBody>
          <a:bodyPr wrap="square" rtlCol="0" anchor="t"/>
          <a:lstStyle/>
          <a:p>
            <a:pPr indent="0" marL="0">
              <a:buNone/>
            </a:pPr>
            <a:r>
              <a:rPr lang="en-US" sz="1100" dirty="0">
                <a:solidFill>
                  <a:srgbClr val="1B2430"/>
                </a:solidFill>
                <a:latin typeface="Calibri" pitchFamily="34" charset="0"/>
                <a:ea typeface="Calibri" pitchFamily="34" charset="-122"/>
                <a:cs typeface="Calibri" pitchFamily="34" charset="-120"/>
              </a:rPr>
              <a:t>Compile time grows linearly with program size (slope 1.07): about 0.55 s for 6,400 lines, and recovery adds little (programs full of errors compile in about 1.2 times the clean time). The interpreter runs 2.7 to 7.0 million TAC steps per second.</a:t>
            </a:r>
            <a:endParaRPr lang="en-US" sz="1100" dirty="0"/>
          </a:p>
        </p:txBody>
      </p:sp>
      <p:sp>
        <p:nvSpPr>
          <p:cNvPr id="13" name="Shape 11"/>
          <p:cNvSpPr/>
          <p:nvPr/>
        </p:nvSpPr>
        <p:spPr>
          <a:xfrm>
            <a:off x="640080" y="4398264"/>
            <a:ext cx="10881360" cy="841248"/>
          </a:xfrm>
          <a:prstGeom prst="roundRect">
            <a:avLst>
              <a:gd name="adj" fmla="val 6522"/>
            </a:avLst>
          </a:prstGeom>
          <a:solidFill>
            <a:srgbClr val="FFFFFF"/>
          </a:solidFill>
          <a:ln w="12700">
            <a:solidFill>
              <a:srgbClr val="DFE4E8"/>
            </a:solidFill>
            <a:prstDash val="solid"/>
          </a:ln>
        </p:spPr>
      </p:sp>
      <p:sp>
        <p:nvSpPr>
          <p:cNvPr id="14" name="Text 12"/>
          <p:cNvSpPr/>
          <p:nvPr/>
        </p:nvSpPr>
        <p:spPr>
          <a:xfrm>
            <a:off x="822960" y="4443984"/>
            <a:ext cx="10515600" cy="292608"/>
          </a:xfrm>
          <a:prstGeom prst="rect">
            <a:avLst/>
          </a:prstGeom>
          <a:noFill/>
          <a:ln/>
        </p:spPr>
        <p:txBody>
          <a:bodyPr wrap="square" rtlCol="0" anchor="ctr"/>
          <a:lstStyle/>
          <a:p>
            <a:pPr indent="0" marL="0">
              <a:buNone/>
            </a:pPr>
            <a:r>
              <a:rPr lang="en-US" sz="1250" b="1" dirty="0">
                <a:solidFill>
                  <a:srgbClr val="18855F"/>
                </a:solidFill>
                <a:latin typeface="Calibri" pitchFamily="34" charset="0"/>
                <a:ea typeface="Calibri" pitchFamily="34" charset="-122"/>
                <a:cs typeface="Calibri" pitchFamily="34" charset="-120"/>
              </a:rPr>
              <a:t>What is the weakest case?</a:t>
            </a:r>
            <a:endParaRPr lang="en-US" sz="1250" dirty="0"/>
          </a:p>
        </p:txBody>
      </p:sp>
      <p:sp>
        <p:nvSpPr>
          <p:cNvPr id="15" name="Text 13"/>
          <p:cNvSpPr/>
          <p:nvPr/>
        </p:nvSpPr>
        <p:spPr>
          <a:xfrm>
            <a:off x="822960" y="4745736"/>
            <a:ext cx="10515600" cy="457200"/>
          </a:xfrm>
          <a:prstGeom prst="rect">
            <a:avLst/>
          </a:prstGeom>
          <a:noFill/>
          <a:ln/>
        </p:spPr>
        <p:txBody>
          <a:bodyPr wrap="square" rtlCol="0" anchor="t"/>
          <a:lstStyle/>
          <a:p>
            <a:pPr indent="0" marL="0">
              <a:buNone/>
            </a:pPr>
            <a:r>
              <a:rPr lang="en-US" sz="1100" dirty="0">
                <a:solidFill>
                  <a:srgbClr val="1B2430"/>
                </a:solidFill>
                <a:latin typeface="Calibri" pitchFamily="34" charset="0"/>
                <a:ea typeface="Calibri" pitchFamily="34" charset="-122"/>
                <a:cs typeface="Calibri" pitchFamily="34" charset="-120"/>
              </a:rPr>
              <a:t>A missing ] (75% clean, 8 cases) and a missing } (91%): where the bracket belongs is a guess, so those fixes are maybe-incorrect and never auto-applied.</a:t>
            </a:r>
            <a:endParaRPr lang="en-US" sz="1100" dirty="0"/>
          </a:p>
        </p:txBody>
      </p:sp>
      <p:sp>
        <p:nvSpPr>
          <p:cNvPr id="16" name="Shape 14"/>
          <p:cNvSpPr/>
          <p:nvPr/>
        </p:nvSpPr>
        <p:spPr>
          <a:xfrm>
            <a:off x="640080" y="5330952"/>
            <a:ext cx="10881360" cy="841248"/>
          </a:xfrm>
          <a:prstGeom prst="roundRect">
            <a:avLst>
              <a:gd name="adj" fmla="val 6522"/>
            </a:avLst>
          </a:prstGeom>
          <a:solidFill>
            <a:srgbClr val="FFFFFF"/>
          </a:solidFill>
          <a:ln w="12700">
            <a:solidFill>
              <a:srgbClr val="DFE4E8"/>
            </a:solidFill>
            <a:prstDash val="solid"/>
          </a:ln>
        </p:spPr>
      </p:sp>
      <p:sp>
        <p:nvSpPr>
          <p:cNvPr id="17" name="Text 15"/>
          <p:cNvSpPr/>
          <p:nvPr/>
        </p:nvSpPr>
        <p:spPr>
          <a:xfrm>
            <a:off x="822960" y="5376672"/>
            <a:ext cx="10515600" cy="292608"/>
          </a:xfrm>
          <a:prstGeom prst="rect">
            <a:avLst/>
          </a:prstGeom>
          <a:noFill/>
          <a:ln/>
        </p:spPr>
        <p:txBody>
          <a:bodyPr wrap="square" rtlCol="0" anchor="ctr"/>
          <a:lstStyle/>
          <a:p>
            <a:pPr indent="0" marL="0">
              <a:buNone/>
            </a:pPr>
            <a:r>
              <a:rPr lang="en-US" sz="1250" b="1" dirty="0">
                <a:solidFill>
                  <a:srgbClr val="18855F"/>
                </a:solidFill>
                <a:latin typeface="Calibri" pitchFamily="34" charset="0"/>
                <a:ea typeface="Calibri" pitchFamily="34" charset="-122"/>
                <a:cs typeface="Calibri" pitchFamily="34" charset="-120"/>
              </a:rPr>
              <a:t>What is not implemented?</a:t>
            </a:r>
            <a:endParaRPr lang="en-US" sz="1250" dirty="0"/>
          </a:p>
        </p:txBody>
      </p:sp>
      <p:sp>
        <p:nvSpPr>
          <p:cNvPr id="18" name="Text 16"/>
          <p:cNvSpPr/>
          <p:nvPr/>
        </p:nvSpPr>
        <p:spPr>
          <a:xfrm>
            <a:off x="822960" y="5678424"/>
            <a:ext cx="10515600" cy="457200"/>
          </a:xfrm>
          <a:prstGeom prst="rect">
            <a:avLst/>
          </a:prstGeom>
          <a:noFill/>
          <a:ln/>
        </p:spPr>
        <p:txBody>
          <a:bodyPr wrap="square" rtlCol="0" anchor="t"/>
          <a:lstStyle/>
          <a:p>
            <a:pPr indent="0" marL="0">
              <a:buNone/>
            </a:pPr>
            <a:r>
              <a:rPr lang="en-US" sz="1100" dirty="0">
                <a:solidFill>
                  <a:srgbClr val="1B2430"/>
                </a:solidFill>
                <a:latin typeface="Calibri" pitchFamily="34" charset="0"/>
                <a:ea typeface="Calibri" pitchFamily="34" charset="-122"/>
                <a:cs typeface="Calibri" pitchFamily="34" charset="-120"/>
              </a:rPr>
              <a:t>Native code generation: programs run as three-address code in an interpreter. The optimiser is per function; no inlining, loop-invariant motion or strength reduction.</a:t>
            </a:r>
            <a:endParaRPr lang="en-US" sz="1100" dirty="0"/>
          </a:p>
        </p:txBody>
      </p:sp>
      <p:sp>
        <p:nvSpPr>
          <p:cNvPr id="19" name="Text 17"/>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992A0"/>
                </a:solidFill>
                <a:latin typeface="Calibri" pitchFamily="34" charset="0"/>
                <a:ea typeface="Calibri" pitchFamily="34" charset="-122"/>
                <a:cs typeface="Calibri" pitchFamily="34" charset="-120"/>
              </a:rPr>
              <a:t>BCSE307P  •  Compiler Design Lab  •  Review 3 — Final Project Review</a:t>
            </a:r>
            <a:endParaRPr lang="en-US" sz="900" dirty="0"/>
          </a:p>
        </p:txBody>
      </p:sp>
      <p:sp>
        <p:nvSpPr>
          <p:cNvPr id="20" name="Text 1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992A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2026-10-21T17:51:03Z</dcterms:created>
  <dcterms:modified xsi:type="dcterms:W3CDTF">2026-10-21T17:51:03Z</dcterms:modified>
</cp:coreProperties>
</file>